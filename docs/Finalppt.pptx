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81" d="100"/>
          <a:sy n="81" d="100"/>
        </p:scale>
        <p:origin x="73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0DE0B6D1-120C-4B06-807C-16069FBBBA05}" type="datetimeFigureOut">
              <a:rPr lang="en-US" smtClean="0"/>
              <a:pPr/>
              <a:t>9/30/2026</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39CD237D-82EE-4172-983B-F9514E18D66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CD237D-82EE-4172-983B-F9514E18D666}" type="slidenum">
              <a:rPr lang="en-US" smtClean="0"/>
              <a:pPr/>
              <a:t>2</a:t>
            </a:fld>
            <a:endParaRPr lang="en-US"/>
          </a:p>
        </p:txBody>
      </p:sp>
    </p:spTree>
    <p:extLst>
      <p:ext uri="{BB962C8B-B14F-4D97-AF65-F5344CB8AC3E}">
        <p14:creationId xmlns:p14="http://schemas.microsoft.com/office/powerpoint/2010/main" val="75342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9CD237D-82EE-4172-983B-F9514E18D666}"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9CD237D-82EE-4172-983B-F9514E18D666}"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1" i="0">
                <a:solidFill>
                  <a:srgbClr val="24406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1" i="0" u="sng">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4406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600" b="1" i="0" u="sng">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551102" y="471206"/>
            <a:ext cx="6161680" cy="418954"/>
          </a:xfrm>
          <a:prstGeom prst="rect">
            <a:avLst/>
          </a:prstGeom>
        </p:spPr>
      </p:pic>
      <p:sp>
        <p:nvSpPr>
          <p:cNvPr id="2" name="Holder 2"/>
          <p:cNvSpPr>
            <a:spLocks noGrp="1"/>
          </p:cNvSpPr>
          <p:nvPr>
            <p:ph type="title"/>
          </p:nvPr>
        </p:nvSpPr>
        <p:spPr/>
        <p:txBody>
          <a:bodyPr lIns="0" tIns="0" rIns="0" bIns="0"/>
          <a:lstStyle>
            <a:lvl1pPr>
              <a:defRPr sz="4000" b="1" i="0">
                <a:solidFill>
                  <a:srgbClr val="24406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4406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33397" y="302513"/>
            <a:ext cx="8125205" cy="635000"/>
          </a:xfrm>
          <a:prstGeom prst="rect">
            <a:avLst/>
          </a:prstGeom>
        </p:spPr>
        <p:txBody>
          <a:bodyPr wrap="square" lIns="0" tIns="0" rIns="0" bIns="0">
            <a:spAutoFit/>
          </a:bodyPr>
          <a:lstStyle>
            <a:lvl1pPr>
              <a:defRPr sz="4000" b="1" i="0">
                <a:solidFill>
                  <a:srgbClr val="244060"/>
                </a:solidFill>
                <a:latin typeface="Times New Roman"/>
                <a:cs typeface="Times New Roman"/>
              </a:defRPr>
            </a:lvl1pPr>
          </a:lstStyle>
          <a:p>
            <a:endParaRPr/>
          </a:p>
        </p:txBody>
      </p:sp>
      <p:sp>
        <p:nvSpPr>
          <p:cNvPr id="3" name="Holder 3"/>
          <p:cNvSpPr>
            <a:spLocks noGrp="1"/>
          </p:cNvSpPr>
          <p:nvPr>
            <p:ph type="body" idx="1"/>
          </p:nvPr>
        </p:nvSpPr>
        <p:spPr>
          <a:xfrm>
            <a:off x="377443" y="3083432"/>
            <a:ext cx="7295515" cy="3683634"/>
          </a:xfrm>
          <a:prstGeom prst="rect">
            <a:avLst/>
          </a:prstGeom>
        </p:spPr>
        <p:txBody>
          <a:bodyPr wrap="square" lIns="0" tIns="0" rIns="0" bIns="0">
            <a:spAutoFit/>
          </a:bodyPr>
          <a:lstStyle>
            <a:lvl1pPr>
              <a:defRPr sz="1600" b="1" i="0" u="sng">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jpe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hyperlink" Target="https://sentinel-well-mind-five.vercel.app/login" TargetMode="External"/><Relationship Id="rId7" Type="http://schemas.openxmlformats.org/officeDocument/2006/relationships/image" Target="../media/image14.png"/><Relationship Id="rId8" Type="http://schemas.openxmlformats.org/officeDocument/2006/relationships/hyperlink" Target="https://github.com/Nishantpastor/sentinel-well-mind" TargetMode="External"/><Relationship Id="rId9" Type="http://schemas.openxmlformats.org/officeDocument/2006/relationships/image" Target="../media/image15.png"/><Relationship Id="rId10" Type="http://schemas.openxmlformats.org/officeDocument/2006/relationships/hyperlink" Target="https://drive.google.com/file/d/1irwGV2OKmFDCB7Yv3qdcUp9CcDWXbnGc/view?usp=sharing" TargetMode="External"/><Relationship Id="rId11" Type="http://schemas.openxmlformats.org/officeDocument/2006/relationships/image" Target="../media/image16.png"/><Relationship Id="rId12" Type="http://schemas.openxmlformats.org/officeDocument/2006/relationships/hyperlink" Target="https://drive.google.com/file/d/1WXfXFz6BTjS30nrOE-pMpaH1NjZhwUus/view?usp=sharing" TargetMode="External"/><Relationship Id="rId13" Type="http://schemas.openxmlformats.org/officeDocument/2006/relationships/image" Target="../media/image17.png"/><Relationship Id="rId14" Type="http://schemas.openxmlformats.org/officeDocument/2006/relationships/hyperlink" Target="https://drive.google.com/file/d/1xbHBlqcL4zQur8C2GcD5RLEqxLkiszOp/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0139719" y="122759"/>
            <a:ext cx="1851214" cy="873542"/>
          </a:xfrm>
          <a:prstGeom prst="rect">
            <a:avLst/>
          </a:prstGeom>
        </p:spPr>
      </p:pic>
      <p:sp>
        <p:nvSpPr>
          <p:cNvPr id="2" name="object 2" descr="$PPTXTitle"/>
          <p:cNvSpPr txBox="1">
            <a:spLocks noGrp="1"/>
          </p:cNvSpPr>
          <p:nvPr>
            <p:ph type="title"/>
          </p:nvPr>
        </p:nvSpPr>
        <p:spPr>
          <a:xfrm>
            <a:off x="7321422" y="1174750"/>
            <a:ext cx="3622040" cy="953135"/>
          </a:xfrm>
          <a:prstGeom prst="rect">
            <a:avLst/>
          </a:prstGeom>
        </p:spPr>
        <p:txBody>
          <a:bodyPr vert="horz" wrap="square" lIns="0" tIns="67945" rIns="0" bIns="0" rtlCol="0">
            <a:spAutoFit/>
          </a:bodyPr>
          <a:lstStyle/>
          <a:p>
            <a:pPr marL="12700" marR="5080" indent="436880">
              <a:lnSpc>
                <a:spcPts val="3460"/>
              </a:lnSpc>
              <a:spcBef>
                <a:spcPts val="535"/>
              </a:spcBef>
            </a:pPr>
            <a:r>
              <a:rPr sz="3200" spc="-10" dirty="0"/>
              <a:t>SMART</a:t>
            </a:r>
            <a:r>
              <a:rPr sz="3200" spc="-160" dirty="0"/>
              <a:t> </a:t>
            </a:r>
            <a:r>
              <a:rPr sz="3200" spc="-10" dirty="0"/>
              <a:t>INDIA </a:t>
            </a:r>
            <a:r>
              <a:rPr sz="3200" spc="-20" dirty="0"/>
              <a:t>HACKATHON</a:t>
            </a:r>
            <a:r>
              <a:rPr sz="3200" spc="-125" dirty="0"/>
              <a:t> </a:t>
            </a:r>
            <a:r>
              <a:rPr sz="3200" spc="-20" dirty="0"/>
              <a:t>2026</a:t>
            </a:r>
            <a:endParaRPr sz="3200" dirty="0"/>
          </a:p>
        </p:txBody>
      </p:sp>
      <p:sp>
        <p:nvSpPr>
          <p:cNvPr id="4" name="object 4"/>
          <p:cNvSpPr txBox="1"/>
          <p:nvPr/>
        </p:nvSpPr>
        <p:spPr>
          <a:xfrm>
            <a:off x="6423786" y="2359796"/>
            <a:ext cx="5190490" cy="885190"/>
          </a:xfrm>
          <a:prstGeom prst="rect">
            <a:avLst/>
          </a:prstGeom>
        </p:spPr>
        <p:txBody>
          <a:bodyPr vert="horz" wrap="square" lIns="0" tIns="98425" rIns="0" bIns="0" rtlCol="0">
            <a:spAutoFit/>
          </a:bodyPr>
          <a:lstStyle/>
          <a:p>
            <a:pPr marL="12700">
              <a:lnSpc>
                <a:spcPct val="100000"/>
              </a:lnSpc>
              <a:spcBef>
                <a:spcPts val="775"/>
              </a:spcBef>
            </a:pPr>
            <a:r>
              <a:rPr sz="3200" b="1" spc="-30" dirty="0">
                <a:solidFill>
                  <a:srgbClr val="244060"/>
                </a:solidFill>
                <a:latin typeface="Times New Roman"/>
                <a:cs typeface="Times New Roman"/>
              </a:rPr>
              <a:t>SentinelWell</a:t>
            </a:r>
            <a:r>
              <a:rPr sz="3200" b="1" spc="-105" dirty="0">
                <a:solidFill>
                  <a:srgbClr val="244060"/>
                </a:solidFill>
                <a:latin typeface="Times New Roman"/>
                <a:cs typeface="Times New Roman"/>
              </a:rPr>
              <a:t> </a:t>
            </a:r>
            <a:r>
              <a:rPr sz="3200" b="1" spc="-25" dirty="0">
                <a:solidFill>
                  <a:srgbClr val="244060"/>
                </a:solidFill>
                <a:latin typeface="Times New Roman"/>
                <a:cs typeface="Times New Roman"/>
              </a:rPr>
              <a:t>AI</a:t>
            </a:r>
            <a:endParaRPr sz="3200" dirty="0">
              <a:latin typeface="Times New Roman"/>
              <a:cs typeface="Times New Roman"/>
            </a:endParaRPr>
          </a:p>
          <a:p>
            <a:pPr marL="12700">
              <a:lnSpc>
                <a:spcPct val="100000"/>
              </a:lnSpc>
              <a:spcBef>
                <a:spcPts val="330"/>
              </a:spcBef>
            </a:pPr>
            <a:r>
              <a:rPr sz="1600" dirty="0">
                <a:solidFill>
                  <a:srgbClr val="244060"/>
                </a:solidFill>
                <a:latin typeface="Times New Roman"/>
                <a:cs typeface="Times New Roman"/>
              </a:rPr>
              <a:t>Explainable</a:t>
            </a:r>
            <a:r>
              <a:rPr sz="1600" spc="-65" dirty="0">
                <a:solidFill>
                  <a:srgbClr val="244060"/>
                </a:solidFill>
                <a:latin typeface="Times New Roman"/>
                <a:cs typeface="Times New Roman"/>
              </a:rPr>
              <a:t> </a:t>
            </a:r>
            <a:r>
              <a:rPr sz="1600" spc="-35" dirty="0">
                <a:solidFill>
                  <a:srgbClr val="244060"/>
                </a:solidFill>
                <a:latin typeface="Times New Roman"/>
                <a:cs typeface="Times New Roman"/>
              </a:rPr>
              <a:t>Welfare-</a:t>
            </a:r>
            <a:r>
              <a:rPr sz="1600" dirty="0">
                <a:solidFill>
                  <a:srgbClr val="244060"/>
                </a:solidFill>
                <a:latin typeface="Times New Roman"/>
                <a:cs typeface="Times New Roman"/>
              </a:rPr>
              <a:t>Risk</a:t>
            </a:r>
            <a:r>
              <a:rPr sz="1600" spc="10" dirty="0">
                <a:solidFill>
                  <a:srgbClr val="244060"/>
                </a:solidFill>
                <a:latin typeface="Times New Roman"/>
                <a:cs typeface="Times New Roman"/>
              </a:rPr>
              <a:t> </a:t>
            </a:r>
            <a:r>
              <a:rPr sz="1600" dirty="0">
                <a:solidFill>
                  <a:srgbClr val="244060"/>
                </a:solidFill>
                <a:latin typeface="Times New Roman"/>
                <a:cs typeface="Times New Roman"/>
              </a:rPr>
              <a:t>Monitoring</a:t>
            </a:r>
            <a:r>
              <a:rPr sz="1600" spc="-20" dirty="0">
                <a:solidFill>
                  <a:srgbClr val="244060"/>
                </a:solidFill>
                <a:latin typeface="Times New Roman"/>
                <a:cs typeface="Times New Roman"/>
              </a:rPr>
              <a:t> </a:t>
            </a:r>
            <a:r>
              <a:rPr sz="1600" dirty="0">
                <a:solidFill>
                  <a:srgbClr val="244060"/>
                </a:solidFill>
                <a:latin typeface="Times New Roman"/>
                <a:cs typeface="Times New Roman"/>
              </a:rPr>
              <a:t>for</a:t>
            </a:r>
            <a:r>
              <a:rPr sz="1600" spc="-50" dirty="0">
                <a:solidFill>
                  <a:srgbClr val="244060"/>
                </a:solidFill>
                <a:latin typeface="Times New Roman"/>
                <a:cs typeface="Times New Roman"/>
              </a:rPr>
              <a:t> </a:t>
            </a:r>
            <a:r>
              <a:rPr sz="1600" dirty="0">
                <a:solidFill>
                  <a:srgbClr val="244060"/>
                </a:solidFill>
                <a:latin typeface="Times New Roman"/>
                <a:cs typeface="Times New Roman"/>
              </a:rPr>
              <a:t>Uniformed</a:t>
            </a:r>
            <a:r>
              <a:rPr sz="1600" spc="-5" dirty="0">
                <a:solidFill>
                  <a:srgbClr val="244060"/>
                </a:solidFill>
                <a:latin typeface="Times New Roman"/>
                <a:cs typeface="Times New Roman"/>
              </a:rPr>
              <a:t> </a:t>
            </a:r>
            <a:r>
              <a:rPr sz="1600" spc="-10" dirty="0">
                <a:solidFill>
                  <a:srgbClr val="244060"/>
                </a:solidFill>
                <a:latin typeface="Times New Roman"/>
                <a:cs typeface="Times New Roman"/>
              </a:rPr>
              <a:t>Personnel</a:t>
            </a:r>
            <a:endParaRPr sz="1600" dirty="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1405621153"/>
              </p:ext>
            </p:extLst>
          </p:nvPr>
        </p:nvGraphicFramePr>
        <p:xfrm>
          <a:off x="6423786" y="3405547"/>
          <a:ext cx="5633694" cy="3251099"/>
        </p:xfrm>
        <a:graphic>
          <a:graphicData uri="http://schemas.openxmlformats.org/drawingml/2006/table">
            <a:tbl>
              <a:tblPr firstRow="1" bandRow="1">
                <a:tableStyleId>{2D5ABB26-0587-4C30-8999-92F81FD0307C}</a:tableStyleId>
              </a:tblPr>
              <a:tblGrid>
                <a:gridCol w="2816847">
                  <a:extLst>
                    <a:ext uri="{9D8B030D-6E8A-4147-A177-3AD203B41FA5}">
                      <a16:colId xmlns:a16="http://schemas.microsoft.com/office/drawing/2014/main" val="20000"/>
                    </a:ext>
                  </a:extLst>
                </a:gridCol>
                <a:gridCol w="2816847">
                  <a:extLst>
                    <a:ext uri="{9D8B030D-6E8A-4147-A177-3AD203B41FA5}">
                      <a16:colId xmlns:a16="http://schemas.microsoft.com/office/drawing/2014/main" val="20001"/>
                    </a:ext>
                  </a:extLst>
                </a:gridCol>
              </a:tblGrid>
              <a:tr h="505858">
                <a:tc>
                  <a:txBody>
                    <a:bodyPr/>
                    <a:lstStyle/>
                    <a:p>
                      <a:pPr marL="92075">
                        <a:lnSpc>
                          <a:spcPct val="100000"/>
                        </a:lnSpc>
                        <a:spcBef>
                          <a:spcPts val="320"/>
                        </a:spcBef>
                      </a:pPr>
                      <a:r>
                        <a:rPr sz="1400" b="1" dirty="0">
                          <a:latin typeface="Times New Roman"/>
                          <a:cs typeface="Times New Roman"/>
                        </a:rPr>
                        <a:t>PROBLEM</a:t>
                      </a:r>
                      <a:r>
                        <a:rPr sz="1400" b="1" spc="-30" dirty="0">
                          <a:latin typeface="Times New Roman"/>
                          <a:cs typeface="Times New Roman"/>
                        </a:rPr>
                        <a:t> STATEMENT </a:t>
                      </a:r>
                      <a:r>
                        <a:rPr sz="1400" b="1" spc="-25" dirty="0">
                          <a:latin typeface="Times New Roman"/>
                          <a:cs typeface="Times New Roman"/>
                        </a:rPr>
                        <a:t>ID</a:t>
                      </a:r>
                      <a:endParaRPr sz="140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5D9F0"/>
                    </a:solidFill>
                  </a:tcPr>
                </a:tc>
                <a:tc>
                  <a:txBody>
                    <a:bodyPr/>
                    <a:lstStyle/>
                    <a:p>
                      <a:pPr marL="92710">
                        <a:lnSpc>
                          <a:spcPct val="100000"/>
                        </a:lnSpc>
                        <a:spcBef>
                          <a:spcPts val="320"/>
                        </a:spcBef>
                      </a:pPr>
                      <a:r>
                        <a:rPr sz="1400" b="1" spc="-10" dirty="0">
                          <a:latin typeface="Times New Roman"/>
                          <a:cs typeface="Times New Roman"/>
                        </a:rPr>
                        <a:t>SIH26186</a:t>
                      </a:r>
                      <a:endParaRPr sz="1400" dirty="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0"/>
                  </a:ext>
                </a:extLst>
              </a:tr>
              <a:tr h="896537">
                <a:tc>
                  <a:txBody>
                    <a:bodyPr/>
                    <a:lstStyle/>
                    <a:p>
                      <a:pPr marL="92075" marR="601345">
                        <a:lnSpc>
                          <a:spcPct val="100000"/>
                        </a:lnSpc>
                        <a:spcBef>
                          <a:spcPts val="320"/>
                        </a:spcBef>
                      </a:pPr>
                      <a:r>
                        <a:rPr sz="1400" b="1" dirty="0">
                          <a:latin typeface="Times New Roman"/>
                          <a:cs typeface="Times New Roman"/>
                        </a:rPr>
                        <a:t>PROBLEM</a:t>
                      </a:r>
                      <a:r>
                        <a:rPr sz="1400" b="1" spc="-20" dirty="0">
                          <a:latin typeface="Times New Roman"/>
                          <a:cs typeface="Times New Roman"/>
                        </a:rPr>
                        <a:t> </a:t>
                      </a:r>
                      <a:r>
                        <a:rPr sz="1400" b="1" spc="-35" dirty="0">
                          <a:latin typeface="Times New Roman"/>
                          <a:cs typeface="Times New Roman"/>
                        </a:rPr>
                        <a:t>STATEMENT </a:t>
                      </a:r>
                      <a:r>
                        <a:rPr sz="1400" b="1" spc="-10" dirty="0">
                          <a:latin typeface="Times New Roman"/>
                          <a:cs typeface="Times New Roman"/>
                        </a:rPr>
                        <a:t>TITLE</a:t>
                      </a:r>
                      <a:endParaRPr sz="1400" dirty="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5D9F0"/>
                    </a:solidFill>
                  </a:tcPr>
                </a:tc>
                <a:tc>
                  <a:txBody>
                    <a:bodyPr/>
                    <a:lstStyle/>
                    <a:p>
                      <a:pPr marL="92710" marR="295275" algn="just">
                        <a:lnSpc>
                          <a:spcPct val="100000"/>
                        </a:lnSpc>
                        <a:spcBef>
                          <a:spcPts val="320"/>
                        </a:spcBef>
                      </a:pPr>
                      <a:r>
                        <a:rPr sz="1400" b="1" spc="-10" dirty="0">
                          <a:latin typeface="Times New Roman"/>
                          <a:cs typeface="Times New Roman"/>
                        </a:rPr>
                        <a:t>AI-</a:t>
                      </a:r>
                      <a:r>
                        <a:rPr sz="1400" b="1" dirty="0">
                          <a:latin typeface="Times New Roman"/>
                          <a:cs typeface="Times New Roman"/>
                        </a:rPr>
                        <a:t>Based</a:t>
                      </a:r>
                      <a:r>
                        <a:rPr sz="1400" b="1" spc="-40" dirty="0">
                          <a:latin typeface="Times New Roman"/>
                          <a:cs typeface="Times New Roman"/>
                        </a:rPr>
                        <a:t> </a:t>
                      </a:r>
                      <a:r>
                        <a:rPr sz="1400" b="1" dirty="0">
                          <a:latin typeface="Times New Roman"/>
                          <a:cs typeface="Times New Roman"/>
                        </a:rPr>
                        <a:t>Predictive</a:t>
                      </a:r>
                      <a:r>
                        <a:rPr sz="1400" b="1" spc="-55" dirty="0">
                          <a:latin typeface="Times New Roman"/>
                          <a:cs typeface="Times New Roman"/>
                        </a:rPr>
                        <a:t> </a:t>
                      </a:r>
                      <a:r>
                        <a:rPr sz="1400" b="1" spc="-10" dirty="0">
                          <a:latin typeface="Times New Roman"/>
                          <a:cs typeface="Times New Roman"/>
                        </a:rPr>
                        <a:t>Personnel </a:t>
                      </a:r>
                      <a:r>
                        <a:rPr sz="1400" b="1" dirty="0">
                          <a:latin typeface="Times New Roman"/>
                          <a:cs typeface="Times New Roman"/>
                        </a:rPr>
                        <a:t>Stress</a:t>
                      </a:r>
                      <a:r>
                        <a:rPr sz="1400" b="1" spc="-4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10" dirty="0">
                          <a:latin typeface="Times New Roman"/>
                          <a:cs typeface="Times New Roman"/>
                        </a:rPr>
                        <a:t>Welfare</a:t>
                      </a:r>
                      <a:r>
                        <a:rPr sz="1400" b="1" spc="-65" dirty="0">
                          <a:latin typeface="Times New Roman"/>
                          <a:cs typeface="Times New Roman"/>
                        </a:rPr>
                        <a:t> </a:t>
                      </a:r>
                      <a:r>
                        <a:rPr sz="1400" b="1" spc="-10" dirty="0">
                          <a:latin typeface="Times New Roman"/>
                          <a:cs typeface="Times New Roman"/>
                        </a:rPr>
                        <a:t>Monitoring </a:t>
                      </a:r>
                      <a:r>
                        <a:rPr sz="1400" b="1" dirty="0">
                          <a:latin typeface="Times New Roman"/>
                          <a:cs typeface="Times New Roman"/>
                        </a:rPr>
                        <a:t>System</a:t>
                      </a:r>
                      <a:r>
                        <a:rPr sz="1400" b="1" spc="-50" dirty="0">
                          <a:latin typeface="Times New Roman"/>
                          <a:cs typeface="Times New Roman"/>
                        </a:rPr>
                        <a:t> </a:t>
                      </a:r>
                      <a:r>
                        <a:rPr sz="1400" b="1" dirty="0">
                          <a:latin typeface="Times New Roman"/>
                          <a:cs typeface="Times New Roman"/>
                        </a:rPr>
                        <a:t>for</a:t>
                      </a:r>
                      <a:r>
                        <a:rPr sz="1400" b="1" spc="-50" dirty="0">
                          <a:latin typeface="Times New Roman"/>
                          <a:cs typeface="Times New Roman"/>
                        </a:rPr>
                        <a:t> </a:t>
                      </a:r>
                      <a:r>
                        <a:rPr sz="1400" b="1" dirty="0">
                          <a:latin typeface="Times New Roman"/>
                          <a:cs typeface="Times New Roman"/>
                        </a:rPr>
                        <a:t>Uniformed</a:t>
                      </a:r>
                      <a:r>
                        <a:rPr sz="1400" b="1" spc="-30" dirty="0">
                          <a:latin typeface="Times New Roman"/>
                          <a:cs typeface="Times New Roman"/>
                        </a:rPr>
                        <a:t> </a:t>
                      </a:r>
                      <a:r>
                        <a:rPr sz="1400" b="1" spc="-10" dirty="0">
                          <a:latin typeface="Times New Roman"/>
                          <a:cs typeface="Times New Roman"/>
                        </a:rPr>
                        <a:t>Forces</a:t>
                      </a:r>
                      <a:endParaRPr sz="1400" dirty="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1"/>
                  </a:ext>
                </a:extLst>
              </a:tr>
              <a:tr h="505858">
                <a:tc>
                  <a:txBody>
                    <a:bodyPr/>
                    <a:lstStyle/>
                    <a:p>
                      <a:pPr marL="92075">
                        <a:lnSpc>
                          <a:spcPct val="100000"/>
                        </a:lnSpc>
                        <a:spcBef>
                          <a:spcPts val="320"/>
                        </a:spcBef>
                      </a:pPr>
                      <a:r>
                        <a:rPr sz="1400" b="1" spc="-10" dirty="0">
                          <a:latin typeface="Times New Roman"/>
                          <a:cs typeface="Times New Roman"/>
                        </a:rPr>
                        <a:t>THEME</a:t>
                      </a:r>
                      <a:endParaRPr sz="140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5D9F0"/>
                    </a:solidFill>
                  </a:tcPr>
                </a:tc>
                <a:tc>
                  <a:txBody>
                    <a:bodyPr/>
                    <a:lstStyle/>
                    <a:p>
                      <a:pPr marL="92710">
                        <a:lnSpc>
                          <a:spcPct val="100000"/>
                        </a:lnSpc>
                        <a:spcBef>
                          <a:spcPts val="320"/>
                        </a:spcBef>
                      </a:pPr>
                      <a:r>
                        <a:rPr sz="1400" b="1" spc="-20" dirty="0">
                          <a:latin typeface="Times New Roman"/>
                          <a:cs typeface="Times New Roman"/>
                        </a:rPr>
                        <a:t>MedTech</a:t>
                      </a:r>
                      <a:r>
                        <a:rPr sz="1400" b="1" spc="-25" dirty="0">
                          <a:latin typeface="Times New Roman"/>
                          <a:cs typeface="Times New Roman"/>
                        </a:rPr>
                        <a:t> </a:t>
                      </a:r>
                      <a:r>
                        <a:rPr sz="1400" b="1" dirty="0">
                          <a:latin typeface="Times New Roman"/>
                          <a:cs typeface="Times New Roman"/>
                        </a:rPr>
                        <a:t>/</a:t>
                      </a:r>
                      <a:r>
                        <a:rPr sz="1400" b="1" spc="-5" dirty="0">
                          <a:latin typeface="Times New Roman"/>
                          <a:cs typeface="Times New Roman"/>
                        </a:rPr>
                        <a:t> </a:t>
                      </a:r>
                      <a:r>
                        <a:rPr sz="1400" b="1" spc="-20" dirty="0">
                          <a:latin typeface="Times New Roman"/>
                          <a:cs typeface="Times New Roman"/>
                        </a:rPr>
                        <a:t>BioTech</a:t>
                      </a:r>
                      <a:r>
                        <a:rPr sz="1400" b="1" spc="-35" dirty="0">
                          <a:latin typeface="Times New Roman"/>
                          <a:cs typeface="Times New Roman"/>
                        </a:rPr>
                        <a:t> </a:t>
                      </a:r>
                      <a:r>
                        <a:rPr sz="1400" b="1" dirty="0">
                          <a:latin typeface="Times New Roman"/>
                          <a:cs typeface="Times New Roman"/>
                        </a:rPr>
                        <a:t>/</a:t>
                      </a:r>
                      <a:r>
                        <a:rPr sz="1400" b="1" spc="-20" dirty="0">
                          <a:latin typeface="Times New Roman"/>
                          <a:cs typeface="Times New Roman"/>
                        </a:rPr>
                        <a:t> </a:t>
                      </a:r>
                      <a:r>
                        <a:rPr sz="1400" b="1" spc="-10" dirty="0">
                          <a:latin typeface="Times New Roman"/>
                          <a:cs typeface="Times New Roman"/>
                        </a:rPr>
                        <a:t>HealthTech</a:t>
                      </a:r>
                      <a:endParaRPr sz="140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2"/>
                  </a:ext>
                </a:extLst>
              </a:tr>
              <a:tr h="568497">
                <a:tc>
                  <a:txBody>
                    <a:bodyPr/>
                    <a:lstStyle/>
                    <a:p>
                      <a:pPr marL="92075" marR="601345">
                        <a:lnSpc>
                          <a:spcPct val="100000"/>
                        </a:lnSpc>
                        <a:spcBef>
                          <a:spcPts val="325"/>
                        </a:spcBef>
                      </a:pPr>
                      <a:r>
                        <a:rPr sz="1400" b="1" dirty="0">
                          <a:latin typeface="Times New Roman"/>
                          <a:cs typeface="Times New Roman"/>
                        </a:rPr>
                        <a:t>PROBLEM</a:t>
                      </a:r>
                      <a:r>
                        <a:rPr sz="1400" b="1" spc="-20" dirty="0">
                          <a:latin typeface="Times New Roman"/>
                          <a:cs typeface="Times New Roman"/>
                        </a:rPr>
                        <a:t> </a:t>
                      </a:r>
                      <a:r>
                        <a:rPr sz="1400" b="1" spc="-35" dirty="0">
                          <a:latin typeface="Times New Roman"/>
                          <a:cs typeface="Times New Roman"/>
                        </a:rPr>
                        <a:t>STATEMENT </a:t>
                      </a:r>
                      <a:r>
                        <a:rPr sz="1400" b="1" spc="-10" dirty="0">
                          <a:latin typeface="Times New Roman"/>
                          <a:cs typeface="Times New Roman"/>
                        </a:rPr>
                        <a:t>CATEGORY</a:t>
                      </a:r>
                      <a:endParaRPr sz="1400" dirty="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5D9F0"/>
                    </a:solidFill>
                  </a:tcPr>
                </a:tc>
                <a:tc>
                  <a:txBody>
                    <a:bodyPr/>
                    <a:lstStyle/>
                    <a:p>
                      <a:pPr marL="92710">
                        <a:lnSpc>
                          <a:spcPct val="100000"/>
                        </a:lnSpc>
                        <a:spcBef>
                          <a:spcPts val="325"/>
                        </a:spcBef>
                      </a:pPr>
                      <a:r>
                        <a:rPr sz="1400" b="1" spc="-10" dirty="0">
                          <a:latin typeface="Times New Roman"/>
                          <a:cs typeface="Times New Roman"/>
                        </a:rPr>
                        <a:t>SOFTWARE</a:t>
                      </a:r>
                      <a:endParaRPr sz="1400" dirty="0">
                        <a:latin typeface="Times New Roman"/>
                        <a:cs typeface="Times New Roman"/>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3"/>
                  </a:ext>
                </a:extLst>
              </a:tr>
              <a:tr h="774349">
                <a:tc>
                  <a:txBody>
                    <a:bodyPr/>
                    <a:lstStyle/>
                    <a:p>
                      <a:pPr marL="92075">
                        <a:lnSpc>
                          <a:spcPct val="100000"/>
                        </a:lnSpc>
                        <a:spcBef>
                          <a:spcPts val="320"/>
                        </a:spcBef>
                      </a:pPr>
                      <a:r>
                        <a:rPr sz="1400" b="1" dirty="0">
                          <a:latin typeface="Times New Roman"/>
                          <a:cs typeface="Times New Roman"/>
                        </a:rPr>
                        <a:t>TEAM</a:t>
                      </a:r>
                      <a:r>
                        <a:rPr sz="1400" b="1" spc="-35" dirty="0">
                          <a:latin typeface="Times New Roman"/>
                          <a:cs typeface="Times New Roman"/>
                        </a:rPr>
                        <a:t> </a:t>
                      </a:r>
                      <a:r>
                        <a:rPr sz="1400" b="1" spc="-20" dirty="0">
                          <a:latin typeface="Times New Roman"/>
                          <a:cs typeface="Times New Roman"/>
                        </a:rPr>
                        <a:t>NAME</a:t>
                      </a:r>
                      <a:endParaRPr lang="en-IN" sz="1400" b="1" spc="-20" dirty="0">
                        <a:latin typeface="Times New Roman"/>
                        <a:cs typeface="Times New Roman"/>
                      </a:endParaRPr>
                    </a:p>
                    <a:p>
                      <a:pPr marL="92075">
                        <a:lnSpc>
                          <a:spcPct val="100000"/>
                        </a:lnSpc>
                        <a:spcBef>
                          <a:spcPts val="320"/>
                        </a:spcBef>
                      </a:pPr>
                      <a:endParaRPr lang="en-IN" sz="1400" b="1" spc="-20" dirty="0">
                        <a:latin typeface="Times New Roman"/>
                        <a:cs typeface="Times New Roman"/>
                      </a:endParaRPr>
                    </a:p>
                    <a:p>
                      <a:pPr marL="92075">
                        <a:lnSpc>
                          <a:spcPct val="100000"/>
                        </a:lnSpc>
                        <a:spcBef>
                          <a:spcPts val="320"/>
                        </a:spcBef>
                      </a:pPr>
                      <a:r>
                        <a:rPr lang="en-IN" sz="1400" b="1" spc="-20" dirty="0">
                          <a:latin typeface="Times New Roman"/>
                          <a:cs typeface="Times New Roman"/>
                        </a:rPr>
                        <a:t>TEAM ID</a:t>
                      </a:r>
                      <a:endParaRPr sz="1400" dirty="0">
                        <a:latin typeface="Times New Roman"/>
                        <a:cs typeface="Times New Roman"/>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5D9F0"/>
                    </a:solidFill>
                  </a:tcPr>
                </a:tc>
                <a:tc>
                  <a:txBody>
                    <a:bodyPr/>
                    <a:lstStyle/>
                    <a:p>
                      <a:pPr marL="92710">
                        <a:lnSpc>
                          <a:spcPct val="100000"/>
                        </a:lnSpc>
                        <a:spcBef>
                          <a:spcPts val="320"/>
                        </a:spcBef>
                      </a:pPr>
                      <a:r>
                        <a:rPr sz="1400" b="1" dirty="0">
                          <a:latin typeface="Times New Roman"/>
                          <a:cs typeface="Times New Roman"/>
                        </a:rPr>
                        <a:t>Neural</a:t>
                      </a:r>
                      <a:r>
                        <a:rPr sz="1400" b="1" spc="-45" dirty="0">
                          <a:latin typeface="Times New Roman"/>
                          <a:cs typeface="Times New Roman"/>
                        </a:rPr>
                        <a:t> </a:t>
                      </a:r>
                      <a:r>
                        <a:rPr sz="1400" b="1" spc="-10" dirty="0">
                          <a:latin typeface="Times New Roman"/>
                          <a:cs typeface="Times New Roman"/>
                        </a:rPr>
                        <a:t>Wellness</a:t>
                      </a:r>
                      <a:endParaRPr lang="en-IN" sz="1400" b="1" spc="-10" dirty="0">
                        <a:latin typeface="Times New Roman"/>
                        <a:cs typeface="Times New Roman"/>
                      </a:endParaRPr>
                    </a:p>
                    <a:p>
                      <a:pPr marL="92710">
                        <a:lnSpc>
                          <a:spcPct val="100000"/>
                        </a:lnSpc>
                        <a:spcBef>
                          <a:spcPts val="320"/>
                        </a:spcBef>
                      </a:pPr>
                      <a:endParaRPr lang="en-IN" sz="1400" b="1" spc="-10" dirty="0">
                        <a:latin typeface="Times New Roman"/>
                        <a:cs typeface="Times New Roman"/>
                      </a:endParaRPr>
                    </a:p>
                    <a:p>
                      <a:pPr marL="92710">
                        <a:lnSpc>
                          <a:spcPct val="100000"/>
                        </a:lnSpc>
                        <a:spcBef>
                          <a:spcPts val="320"/>
                        </a:spcBef>
                      </a:pPr>
                      <a:r>
                        <a:rPr lang="en-IN" sz="1400" b="1" spc="-10" dirty="0">
                          <a:latin typeface="Times New Roman"/>
                          <a:cs typeface="Times New Roman"/>
                        </a:rPr>
                        <a:t>154315</a:t>
                      </a: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4"/>
                  </a:ext>
                </a:extLst>
              </a:tr>
            </a:tbl>
          </a:graphicData>
        </a:graphic>
      </p:graphicFrame>
      <p:pic>
        <p:nvPicPr>
          <p:cNvPr id="6" name="Picture 5" descr="1d05ac76-3e38-4448-a09c-b2b4021e11df.png"/>
          <p:cNvPicPr>
            <a:picLocks noChangeAspect="1"/>
          </p:cNvPicPr>
          <p:nvPr/>
        </p:nvPicPr>
        <p:blipFill>
          <a:blip r:embed="rId3" cstate="print"/>
          <a:stretch>
            <a:fillRect/>
          </a:stretch>
        </p:blipFill>
        <p:spPr>
          <a:xfrm>
            <a:off x="-685800" y="-381000"/>
            <a:ext cx="10287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p:cNvSpPr/>
          <p:nvPr/>
        </p:nvSpPr>
        <p:spPr>
          <a:xfrm>
            <a:off x="72326" y="36576"/>
            <a:ext cx="1530350" cy="807720"/>
          </a:xfrm>
          <a:custGeom>
            <a:avLst/>
            <a:gdLst/>
            <a:ahLst/>
            <a:cxnLst/>
            <a:rect l="l" t="t" r="r" b="b"/>
            <a:pathLst>
              <a:path w="1530350" h="807719">
                <a:moveTo>
                  <a:pt x="0" y="403606"/>
                </a:moveTo>
                <a:lnTo>
                  <a:pt x="10010" y="338143"/>
                </a:lnTo>
                <a:lnTo>
                  <a:pt x="38993" y="276043"/>
                </a:lnTo>
                <a:lnTo>
                  <a:pt x="85374" y="218134"/>
                </a:lnTo>
                <a:lnTo>
                  <a:pt x="114595" y="191012"/>
                </a:lnTo>
                <a:lnTo>
                  <a:pt x="147576" y="165250"/>
                </a:lnTo>
                <a:lnTo>
                  <a:pt x="184119" y="140951"/>
                </a:lnTo>
                <a:lnTo>
                  <a:pt x="224026" y="118221"/>
                </a:lnTo>
                <a:lnTo>
                  <a:pt x="267102" y="97162"/>
                </a:lnTo>
                <a:lnTo>
                  <a:pt x="313149" y="77878"/>
                </a:lnTo>
                <a:lnTo>
                  <a:pt x="361971" y="60474"/>
                </a:lnTo>
                <a:lnTo>
                  <a:pt x="413370" y="45053"/>
                </a:lnTo>
                <a:lnTo>
                  <a:pt x="467150" y="31720"/>
                </a:lnTo>
                <a:lnTo>
                  <a:pt x="523114" y="20578"/>
                </a:lnTo>
                <a:lnTo>
                  <a:pt x="581066" y="11731"/>
                </a:lnTo>
                <a:lnTo>
                  <a:pt x="640807" y="5283"/>
                </a:lnTo>
                <a:lnTo>
                  <a:pt x="702142" y="1338"/>
                </a:lnTo>
                <a:lnTo>
                  <a:pt x="764874" y="0"/>
                </a:lnTo>
                <a:lnTo>
                  <a:pt x="827598" y="1338"/>
                </a:lnTo>
                <a:lnTo>
                  <a:pt x="888928" y="5283"/>
                </a:lnTo>
                <a:lnTo>
                  <a:pt x="948666" y="11731"/>
                </a:lnTo>
                <a:lnTo>
                  <a:pt x="1006615" y="20578"/>
                </a:lnTo>
                <a:lnTo>
                  <a:pt x="1062579" y="31720"/>
                </a:lnTo>
                <a:lnTo>
                  <a:pt x="1116359" y="45053"/>
                </a:lnTo>
                <a:lnTo>
                  <a:pt x="1167760" y="60474"/>
                </a:lnTo>
                <a:lnTo>
                  <a:pt x="1216583" y="77878"/>
                </a:lnTo>
                <a:lnTo>
                  <a:pt x="1262633" y="97162"/>
                </a:lnTo>
                <a:lnTo>
                  <a:pt x="1305713" y="118221"/>
                </a:lnTo>
                <a:lnTo>
                  <a:pt x="1345624" y="140951"/>
                </a:lnTo>
                <a:lnTo>
                  <a:pt x="1382170" y="165250"/>
                </a:lnTo>
                <a:lnTo>
                  <a:pt x="1415155" y="191012"/>
                </a:lnTo>
                <a:lnTo>
                  <a:pt x="1444381" y="218134"/>
                </a:lnTo>
                <a:lnTo>
                  <a:pt x="1490768" y="276043"/>
                </a:lnTo>
                <a:lnTo>
                  <a:pt x="1519756" y="338143"/>
                </a:lnTo>
                <a:lnTo>
                  <a:pt x="1529769" y="403606"/>
                </a:lnTo>
                <a:lnTo>
                  <a:pt x="1527233" y="436705"/>
                </a:lnTo>
                <a:lnTo>
                  <a:pt x="1507536" y="500590"/>
                </a:lnTo>
                <a:lnTo>
                  <a:pt x="1469651" y="560699"/>
                </a:lnTo>
                <a:lnTo>
                  <a:pt x="1415155" y="616199"/>
                </a:lnTo>
                <a:lnTo>
                  <a:pt x="1382170" y="641961"/>
                </a:lnTo>
                <a:lnTo>
                  <a:pt x="1345624" y="666260"/>
                </a:lnTo>
                <a:lnTo>
                  <a:pt x="1305713" y="688990"/>
                </a:lnTo>
                <a:lnTo>
                  <a:pt x="1262633" y="710049"/>
                </a:lnTo>
                <a:lnTo>
                  <a:pt x="1216583" y="729333"/>
                </a:lnTo>
                <a:lnTo>
                  <a:pt x="1167760" y="746737"/>
                </a:lnTo>
                <a:lnTo>
                  <a:pt x="1116359" y="762158"/>
                </a:lnTo>
                <a:lnTo>
                  <a:pt x="1062579" y="775491"/>
                </a:lnTo>
                <a:lnTo>
                  <a:pt x="1006615" y="786633"/>
                </a:lnTo>
                <a:lnTo>
                  <a:pt x="948666" y="795480"/>
                </a:lnTo>
                <a:lnTo>
                  <a:pt x="888928" y="801928"/>
                </a:lnTo>
                <a:lnTo>
                  <a:pt x="827598" y="805873"/>
                </a:lnTo>
                <a:lnTo>
                  <a:pt x="764874" y="807212"/>
                </a:lnTo>
                <a:lnTo>
                  <a:pt x="702142" y="805873"/>
                </a:lnTo>
                <a:lnTo>
                  <a:pt x="640807" y="801928"/>
                </a:lnTo>
                <a:lnTo>
                  <a:pt x="581066" y="795480"/>
                </a:lnTo>
                <a:lnTo>
                  <a:pt x="523114" y="786633"/>
                </a:lnTo>
                <a:lnTo>
                  <a:pt x="467150" y="775491"/>
                </a:lnTo>
                <a:lnTo>
                  <a:pt x="413370" y="762158"/>
                </a:lnTo>
                <a:lnTo>
                  <a:pt x="361971" y="746737"/>
                </a:lnTo>
                <a:lnTo>
                  <a:pt x="313149" y="729333"/>
                </a:lnTo>
                <a:lnTo>
                  <a:pt x="267102" y="710049"/>
                </a:lnTo>
                <a:lnTo>
                  <a:pt x="224026" y="688990"/>
                </a:lnTo>
                <a:lnTo>
                  <a:pt x="184119" y="666260"/>
                </a:lnTo>
                <a:lnTo>
                  <a:pt x="147576" y="641961"/>
                </a:lnTo>
                <a:lnTo>
                  <a:pt x="114595" y="616199"/>
                </a:lnTo>
                <a:lnTo>
                  <a:pt x="85374" y="589077"/>
                </a:lnTo>
                <a:lnTo>
                  <a:pt x="38993" y="531168"/>
                </a:lnTo>
                <a:lnTo>
                  <a:pt x="10010" y="469068"/>
                </a:lnTo>
                <a:lnTo>
                  <a:pt x="0" y="403606"/>
                </a:lnTo>
                <a:close/>
              </a:path>
            </a:pathLst>
          </a:custGeom>
          <a:ln w="25400">
            <a:solidFill>
              <a:srgbClr val="548ED4"/>
            </a:solidFill>
          </a:ln>
        </p:spPr>
        <p:txBody>
          <a:bodyPr wrap="square" lIns="0" tIns="0" rIns="0" bIns="0" rtlCol="0"/>
          <a:lstStyle/>
          <a:p>
            <a:endParaRPr/>
          </a:p>
        </p:txBody>
      </p:sp>
      <p:sp>
        <p:nvSpPr>
          <p:cNvPr id="15" name="object 15"/>
          <p:cNvSpPr txBox="1"/>
          <p:nvPr/>
        </p:nvSpPr>
        <p:spPr>
          <a:xfrm>
            <a:off x="386588" y="185673"/>
            <a:ext cx="878205"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Times New Roman"/>
                <a:cs typeface="Times New Roman"/>
              </a:rPr>
              <a:t>Neural </a:t>
            </a:r>
            <a:r>
              <a:rPr sz="1800" b="1" spc="-25" dirty="0">
                <a:latin typeface="Times New Roman"/>
                <a:cs typeface="Times New Roman"/>
              </a:rPr>
              <a:t>Wellness</a:t>
            </a:r>
            <a:endParaRPr sz="1800">
              <a:latin typeface="Times New Roman"/>
              <a:cs typeface="Times New Roman"/>
            </a:endParaRPr>
          </a:p>
        </p:txBody>
      </p:sp>
      <p:sp>
        <p:nvSpPr>
          <p:cNvPr id="4" name="object 4"/>
          <p:cNvSpPr txBox="1"/>
          <p:nvPr/>
        </p:nvSpPr>
        <p:spPr>
          <a:xfrm>
            <a:off x="136574" y="862329"/>
            <a:ext cx="6837680" cy="312265"/>
          </a:xfrm>
          <a:prstGeom prst="rect">
            <a:avLst/>
          </a:prstGeom>
        </p:spPr>
        <p:txBody>
          <a:bodyPr vert="horz" wrap="square" lIns="0" tIns="12065" rIns="0" bIns="0" rtlCol="0">
            <a:spAutoFit/>
          </a:bodyPr>
          <a:lstStyle/>
          <a:p>
            <a:pPr marL="12700">
              <a:lnSpc>
                <a:spcPct val="100000"/>
              </a:lnSpc>
              <a:spcBef>
                <a:spcPts val="95"/>
              </a:spcBef>
            </a:pPr>
            <a:r>
              <a:rPr lang="en-IN" sz="1950" b="1" spc="-35" dirty="0">
                <a:solidFill>
                  <a:srgbClr val="244060"/>
                </a:solidFill>
                <a:latin typeface="Times New Roman"/>
                <a:cs typeface="Times New Roman"/>
              </a:rPr>
              <a:t> </a:t>
            </a:r>
            <a:r>
              <a:rPr lang="en-IN" sz="1950" b="1" dirty="0">
                <a:solidFill>
                  <a:srgbClr val="244060"/>
                </a:solidFill>
                <a:latin typeface="Times New Roman"/>
                <a:cs typeface="Times New Roman"/>
              </a:rPr>
              <a:t>PROPOSED</a:t>
            </a:r>
            <a:r>
              <a:rPr lang="en-IN" sz="1950" b="1" spc="-20" dirty="0">
                <a:solidFill>
                  <a:srgbClr val="244060"/>
                </a:solidFill>
                <a:latin typeface="Times New Roman"/>
                <a:cs typeface="Times New Roman"/>
              </a:rPr>
              <a:t> </a:t>
            </a:r>
            <a:r>
              <a:rPr lang="en-IN" sz="1950" b="1" spc="-10" dirty="0">
                <a:solidFill>
                  <a:srgbClr val="244060"/>
                </a:solidFill>
                <a:latin typeface="Times New Roman"/>
                <a:cs typeface="Times New Roman"/>
              </a:rPr>
              <a:t>SOLUTION</a:t>
            </a:r>
            <a:endParaRPr sz="1950" dirty="0">
              <a:latin typeface="Times New Roman"/>
              <a:cs typeface="Times New Roman"/>
            </a:endParaRPr>
          </a:p>
        </p:txBody>
      </p:sp>
      <p:pic>
        <p:nvPicPr>
          <p:cNvPr id="6" name="object 6"/>
          <p:cNvPicPr/>
          <p:nvPr/>
        </p:nvPicPr>
        <p:blipFill>
          <a:blip r:embed="rId3" cstate="print"/>
          <a:stretch>
            <a:fillRect/>
          </a:stretch>
        </p:blipFill>
        <p:spPr>
          <a:xfrm>
            <a:off x="4283964" y="36576"/>
            <a:ext cx="3601212" cy="1147572"/>
          </a:xfrm>
          <a:prstGeom prst="rect">
            <a:avLst/>
          </a:prstGeom>
        </p:spPr>
      </p:pic>
      <p:sp>
        <p:nvSpPr>
          <p:cNvPr id="7" name="object 7" descr="$PPTXTitle"/>
          <p:cNvSpPr txBox="1">
            <a:spLocks noGrp="1"/>
          </p:cNvSpPr>
          <p:nvPr>
            <p:ph type="title"/>
          </p:nvPr>
        </p:nvSpPr>
        <p:spPr>
          <a:xfrm>
            <a:off x="4618990" y="181813"/>
            <a:ext cx="2937510" cy="635000"/>
          </a:xfrm>
          <a:prstGeom prst="rect">
            <a:avLst/>
          </a:prstGeom>
        </p:spPr>
        <p:txBody>
          <a:bodyPr vert="horz" wrap="square" lIns="0" tIns="12065" rIns="0" bIns="0" rtlCol="0">
            <a:spAutoFit/>
          </a:bodyPr>
          <a:lstStyle/>
          <a:p>
            <a:pPr marL="12700">
              <a:lnSpc>
                <a:spcPct val="100000"/>
              </a:lnSpc>
              <a:spcBef>
                <a:spcPts val="95"/>
              </a:spcBef>
            </a:pPr>
            <a:r>
              <a:rPr spc="-35" dirty="0"/>
              <a:t>IDEA</a:t>
            </a:r>
            <a:r>
              <a:rPr spc="-270" dirty="0"/>
              <a:t> </a:t>
            </a:r>
            <a:r>
              <a:rPr spc="-10" dirty="0"/>
              <a:t>TITLE</a:t>
            </a:r>
          </a:p>
        </p:txBody>
      </p:sp>
      <p:pic>
        <p:nvPicPr>
          <p:cNvPr id="13" name="object 13"/>
          <p:cNvPicPr/>
          <p:nvPr/>
        </p:nvPicPr>
        <p:blipFill>
          <a:blip r:embed="rId4" cstate="print"/>
          <a:stretch>
            <a:fillRect/>
          </a:stretch>
        </p:blipFill>
        <p:spPr>
          <a:xfrm>
            <a:off x="10020310" y="84275"/>
            <a:ext cx="1983976" cy="814734"/>
          </a:xfrm>
          <a:prstGeom prst="rect">
            <a:avLst/>
          </a:prstGeom>
        </p:spPr>
      </p:pic>
      <p:sp>
        <p:nvSpPr>
          <p:cNvPr id="5" name="object 5"/>
          <p:cNvSpPr/>
          <p:nvPr/>
        </p:nvSpPr>
        <p:spPr>
          <a:xfrm>
            <a:off x="110033" y="1174594"/>
            <a:ext cx="11783060" cy="45720"/>
          </a:xfrm>
          <a:custGeom>
            <a:avLst/>
            <a:gdLst/>
            <a:ahLst/>
            <a:cxnLst/>
            <a:rect l="l" t="t" r="r" b="b"/>
            <a:pathLst>
              <a:path w="11783060" h="45719">
                <a:moveTo>
                  <a:pt x="11782806" y="0"/>
                </a:moveTo>
                <a:lnTo>
                  <a:pt x="0" y="0"/>
                </a:lnTo>
                <a:lnTo>
                  <a:pt x="0" y="45718"/>
                </a:lnTo>
                <a:lnTo>
                  <a:pt x="11782806" y="45718"/>
                </a:lnTo>
                <a:lnTo>
                  <a:pt x="11782806" y="0"/>
                </a:lnTo>
                <a:close/>
              </a:path>
            </a:pathLst>
          </a:custGeom>
          <a:solidFill>
            <a:srgbClr val="17375E"/>
          </a:solidFill>
        </p:spPr>
        <p:txBody>
          <a:bodyPr wrap="square" lIns="0" tIns="0" rIns="0" bIns="0" rtlCol="0"/>
          <a:lstStyle/>
          <a:p>
            <a:endParaRPr/>
          </a:p>
        </p:txBody>
      </p:sp>
      <p:sp>
        <p:nvSpPr>
          <p:cNvPr id="2" name="object 2"/>
          <p:cNvSpPr txBox="1"/>
          <p:nvPr/>
        </p:nvSpPr>
        <p:spPr>
          <a:xfrm>
            <a:off x="136573" y="1215530"/>
            <a:ext cx="11867713" cy="935513"/>
          </a:xfrm>
          <a:prstGeom prst="rect">
            <a:avLst/>
          </a:prstGeom>
        </p:spPr>
        <p:txBody>
          <a:bodyPr vert="horz" wrap="square" lIns="0" tIns="12065" rIns="0" bIns="0" rtlCol="0">
            <a:spAutoFit/>
          </a:bodyPr>
          <a:lstStyle/>
          <a:p>
            <a:pPr marL="12700" marR="5080" algn="just">
              <a:lnSpc>
                <a:spcPct val="100000"/>
              </a:lnSpc>
              <a:spcBef>
                <a:spcPts val="95"/>
              </a:spcBef>
            </a:pPr>
            <a:r>
              <a:rPr lang="en-US" sz="1500" b="1" dirty="0">
                <a:latin typeface="Times New Roman"/>
                <a:cs typeface="Times New Roman"/>
              </a:rPr>
              <a:t>SentinelWell AI </a:t>
            </a:r>
            <a:r>
              <a:rPr lang="en-US" sz="1500" dirty="0">
                <a:latin typeface="Times New Roman"/>
                <a:cs typeface="Times New Roman"/>
              </a:rPr>
              <a:t>is an AI-powered welfare-risk monitoring system designed to support the mental well-being of uniformed personnel. It analyzes duty-related and voluntarily provided wellness data to identify early signs of stress, fatigue, and burnout. Using anomaly detection and risk prediction, it enables timely and proactive intervention. With explainable AI and role-based access, it protects privacy while providing the right insights to personnel, welfare officers and Unit Commanders.</a:t>
            </a:r>
            <a:endParaRPr sz="1500" dirty="0">
              <a:latin typeface="Times New Roman"/>
              <a:cs typeface="Times New Roman"/>
            </a:endParaRPr>
          </a:p>
        </p:txBody>
      </p:sp>
      <p:sp>
        <p:nvSpPr>
          <p:cNvPr id="3" name="object 3"/>
          <p:cNvSpPr txBox="1">
            <a:spLocks noGrp="1"/>
          </p:cNvSpPr>
          <p:nvPr>
            <p:ph type="body" idx="1"/>
          </p:nvPr>
        </p:nvSpPr>
        <p:spPr>
          <a:xfrm>
            <a:off x="136574" y="2203734"/>
            <a:ext cx="8097703" cy="4549322"/>
          </a:xfrm>
          <a:prstGeom prst="rect">
            <a:avLst/>
          </a:prstGeom>
        </p:spPr>
        <p:txBody>
          <a:bodyPr vert="horz" wrap="square" lIns="0" tIns="12065" rIns="0" bIns="0" rtlCol="0">
            <a:spAutoFit/>
          </a:bodyPr>
          <a:lstStyle/>
          <a:p>
            <a:pPr>
              <a:lnSpc>
                <a:spcPct val="100000"/>
              </a:lnSpc>
              <a:spcBef>
                <a:spcPts val="80"/>
              </a:spcBef>
            </a:pPr>
            <a:r>
              <a:rPr lang="en-US" sz="1500" u="none" spc="-10" dirty="0"/>
              <a:t>CORE FEATURES</a:t>
            </a:r>
          </a:p>
          <a:p>
            <a:pPr>
              <a:lnSpc>
                <a:spcPct val="100000"/>
              </a:lnSpc>
              <a:spcBef>
                <a:spcPts val="80"/>
              </a:spcBef>
            </a:pPr>
            <a:endParaRPr lang="en-US" sz="1500" u="none" spc="-10" dirty="0"/>
          </a:p>
          <a:p>
            <a:pPr marL="285750" indent="-285750">
              <a:lnSpc>
                <a:spcPct val="100000"/>
              </a:lnSpc>
              <a:spcBef>
                <a:spcPts val="80"/>
              </a:spcBef>
              <a:buFont typeface="Wingdings" panose="05000000000000000000" pitchFamily="2" charset="2"/>
              <a:buChar char="Ø"/>
            </a:pPr>
            <a:r>
              <a:rPr lang="en-US" u="none" spc="-10" dirty="0"/>
              <a:t>Non-Invasive Risk Engine: </a:t>
            </a:r>
            <a:r>
              <a:rPr lang="en-US" b="0" u="none" spc="-10" dirty="0"/>
              <a:t>Uses existing duty rosters (duty streaks, night shifts, deployment, leave rejections) and a sub-minute voluntary check-in. Isolation Forest flags abnormal duty patterns, and LightGBM converts them into a continuous 0–100 score across Low, Moderate, High and Critical. No wearables.</a:t>
            </a:r>
          </a:p>
          <a:p>
            <a:pPr marL="285750" indent="-285750">
              <a:lnSpc>
                <a:spcPct val="100000"/>
              </a:lnSpc>
              <a:spcBef>
                <a:spcPts val="80"/>
              </a:spcBef>
              <a:buFont typeface="Wingdings" panose="05000000000000000000" pitchFamily="2" charset="2"/>
              <a:buChar char="Ø"/>
            </a:pPr>
            <a:endParaRPr lang="en-US" b="0" u="none" spc="-10" dirty="0"/>
          </a:p>
          <a:p>
            <a:pPr marL="285750" indent="-285750">
              <a:lnSpc>
                <a:spcPct val="100000"/>
              </a:lnSpc>
              <a:spcBef>
                <a:spcPts val="80"/>
              </a:spcBef>
              <a:buFont typeface="Wingdings" panose="05000000000000000000" pitchFamily="2" charset="2"/>
              <a:buChar char="Ø"/>
            </a:pPr>
            <a:r>
              <a:rPr lang="en-US" u="none" spc="-10" dirty="0"/>
              <a:t>Compounding-Stress Detection</a:t>
            </a:r>
            <a:r>
              <a:rPr lang="en-US" b="0" u="none" spc="-10" dirty="0"/>
              <a:t>: Derived Sleep Deprivation Index and Burnout Velocity catch stressors stacking up, such as poor sleep on top of a 14-day duty streak.</a:t>
            </a:r>
          </a:p>
          <a:p>
            <a:pPr marL="285750" indent="-285750">
              <a:lnSpc>
                <a:spcPct val="100000"/>
              </a:lnSpc>
              <a:spcBef>
                <a:spcPts val="80"/>
              </a:spcBef>
              <a:buFont typeface="Wingdings" panose="05000000000000000000" pitchFamily="2" charset="2"/>
              <a:buChar char="Ø"/>
            </a:pPr>
            <a:endParaRPr lang="en-US" b="0" u="none" spc="-10" dirty="0"/>
          </a:p>
          <a:p>
            <a:pPr marL="285750" indent="-285750">
              <a:lnSpc>
                <a:spcPct val="100000"/>
              </a:lnSpc>
              <a:spcBef>
                <a:spcPts val="80"/>
              </a:spcBef>
              <a:buFont typeface="Wingdings" panose="05000000000000000000" pitchFamily="2" charset="2"/>
              <a:buChar char="Ø"/>
            </a:pPr>
            <a:r>
              <a:rPr lang="en-US" u="none" spc="-10" dirty="0"/>
              <a:t>Explainable, Human-in-the-Loop Alerts</a:t>
            </a:r>
            <a:r>
              <a:rPr lang="en-US" b="0" u="none" spc="-10" dirty="0"/>
              <a:t>: TreeSHAP names the top 3 drivers behind every alert. Officers then accept, schedule or dismiss suggested welfare actions.</a:t>
            </a:r>
          </a:p>
          <a:p>
            <a:pPr>
              <a:lnSpc>
                <a:spcPct val="100000"/>
              </a:lnSpc>
              <a:spcBef>
                <a:spcPts val="80"/>
              </a:spcBef>
            </a:pPr>
            <a:endParaRPr lang="en-US" b="0" u="none" spc="-10" dirty="0"/>
          </a:p>
          <a:p>
            <a:pPr marL="285750" indent="-285750">
              <a:lnSpc>
                <a:spcPct val="100000"/>
              </a:lnSpc>
              <a:spcBef>
                <a:spcPts val="80"/>
              </a:spcBef>
              <a:buFont typeface="Wingdings" panose="05000000000000000000" pitchFamily="2" charset="2"/>
              <a:buChar char="Ø"/>
            </a:pPr>
            <a:r>
              <a:rPr lang="en-US" u="none" spc="-10" dirty="0"/>
              <a:t>Role-Based Portals: </a:t>
            </a:r>
            <a:r>
              <a:rPr lang="en-US" b="0" u="none" spc="-10" dirty="0"/>
              <a:t>Personnel get private self-tracking, welfare officers get a priority triage queue, and commanders see only anonymised unit readiness.</a:t>
            </a:r>
          </a:p>
          <a:p>
            <a:pPr marL="285750" indent="-285750">
              <a:lnSpc>
                <a:spcPct val="100000"/>
              </a:lnSpc>
              <a:spcBef>
                <a:spcPts val="80"/>
              </a:spcBef>
              <a:buFont typeface="Wingdings" panose="05000000000000000000" pitchFamily="2" charset="2"/>
              <a:buChar char="Ø"/>
            </a:pPr>
            <a:endParaRPr lang="en-US" b="0" u="none" spc="-10" dirty="0"/>
          </a:p>
          <a:p>
            <a:pPr marL="285750" indent="-285750">
              <a:lnSpc>
                <a:spcPct val="100000"/>
              </a:lnSpc>
              <a:spcBef>
                <a:spcPts val="80"/>
              </a:spcBef>
              <a:buFont typeface="Wingdings" panose="05000000000000000000" pitchFamily="2" charset="2"/>
              <a:buChar char="Ø"/>
            </a:pPr>
            <a:r>
              <a:rPr lang="en-US" u="none" spc="-10" dirty="0"/>
              <a:t>Support-First, Zero Disciplinary Link: </a:t>
            </a:r>
            <a:r>
              <a:rPr lang="en-US" b="0" u="none" spc="-10" dirty="0"/>
              <a:t>Welfare data is kept separate from ACRs and service records. Personnel control consent, and every access is </a:t>
            </a:r>
            <a:r>
              <a:rPr lang="en-US" sz="1650" b="0" u="none" spc="-10" dirty="0"/>
              <a:t>logged.</a:t>
            </a:r>
          </a:p>
        </p:txBody>
      </p:sp>
      <p:pic>
        <p:nvPicPr>
          <p:cNvPr id="17" name="Picture 16">
            <a:extLst>
              <a:ext uri="{FF2B5EF4-FFF2-40B4-BE49-F238E27FC236}">
                <a16:creationId xmlns:a16="http://schemas.microsoft.com/office/drawing/2014/main" id="{792FE1DB-3BFB-ED87-BF9F-F217FB448E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34277" y="2037027"/>
            <a:ext cx="3927086" cy="47974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80464" y="2938"/>
            <a:ext cx="8458835" cy="1230630"/>
          </a:xfrm>
          <a:prstGeom prst="rect">
            <a:avLst/>
          </a:prstGeom>
        </p:spPr>
        <p:txBody>
          <a:bodyPr vert="horz" wrap="square" lIns="0" tIns="155575" rIns="0" bIns="0" rtlCol="0">
            <a:spAutoFit/>
          </a:bodyPr>
          <a:lstStyle/>
          <a:p>
            <a:pPr marL="170180" algn="ctr">
              <a:lnSpc>
                <a:spcPct val="100000"/>
              </a:lnSpc>
              <a:spcBef>
                <a:spcPts val="1225"/>
              </a:spcBef>
            </a:pPr>
            <a:r>
              <a:rPr spc="-40" dirty="0"/>
              <a:t>TECHNICAL</a:t>
            </a:r>
            <a:r>
              <a:rPr spc="-345" dirty="0"/>
              <a:t> </a:t>
            </a:r>
            <a:r>
              <a:rPr spc="-10" dirty="0"/>
              <a:t>APPROACH</a:t>
            </a:r>
          </a:p>
          <a:p>
            <a:pPr marL="12700">
              <a:lnSpc>
                <a:spcPct val="100000"/>
              </a:lnSpc>
              <a:spcBef>
                <a:spcPts val="680"/>
              </a:spcBef>
            </a:pPr>
            <a:r>
              <a:rPr sz="2400" spc="-30" dirty="0"/>
              <a:t>DUAL-</a:t>
            </a:r>
            <a:r>
              <a:rPr sz="2400" dirty="0"/>
              <a:t>MODEL</a:t>
            </a:r>
            <a:r>
              <a:rPr sz="2400" spc="-150" dirty="0"/>
              <a:t> </a:t>
            </a:r>
            <a:r>
              <a:rPr sz="2400" dirty="0"/>
              <a:t>PIPELINE</a:t>
            </a:r>
            <a:r>
              <a:rPr sz="2400" spc="-95" dirty="0"/>
              <a:t> </a:t>
            </a:r>
            <a:r>
              <a:rPr sz="2400" dirty="0"/>
              <a:t>WITH</a:t>
            </a:r>
            <a:r>
              <a:rPr sz="2400" spc="-65" dirty="0"/>
              <a:t> </a:t>
            </a:r>
            <a:r>
              <a:rPr sz="2400" dirty="0"/>
              <a:t>EXACT</a:t>
            </a:r>
            <a:r>
              <a:rPr sz="2400" spc="-75" dirty="0"/>
              <a:t> </a:t>
            </a:r>
            <a:r>
              <a:rPr sz="2400" spc="-10" dirty="0"/>
              <a:t>EXPLAINABILITY</a:t>
            </a:r>
            <a:endParaRPr sz="2400" dirty="0"/>
          </a:p>
        </p:txBody>
      </p:sp>
      <p:sp>
        <p:nvSpPr>
          <p:cNvPr id="9" name="object 9"/>
          <p:cNvSpPr/>
          <p:nvPr/>
        </p:nvSpPr>
        <p:spPr>
          <a:xfrm>
            <a:off x="95477" y="128904"/>
            <a:ext cx="1602105" cy="807720"/>
          </a:xfrm>
          <a:custGeom>
            <a:avLst/>
            <a:gdLst/>
            <a:ahLst/>
            <a:cxnLst/>
            <a:rect l="l" t="t" r="r" b="b"/>
            <a:pathLst>
              <a:path w="1602105" h="807719">
                <a:moveTo>
                  <a:pt x="0" y="403733"/>
                </a:moveTo>
                <a:lnTo>
                  <a:pt x="9517" y="341285"/>
                </a:lnTo>
                <a:lnTo>
                  <a:pt x="37121" y="281857"/>
                </a:lnTo>
                <a:lnTo>
                  <a:pt x="81386" y="226165"/>
                </a:lnTo>
                <a:lnTo>
                  <a:pt x="109322" y="199945"/>
                </a:lnTo>
                <a:lnTo>
                  <a:pt x="140890" y="174927"/>
                </a:lnTo>
                <a:lnTo>
                  <a:pt x="175911" y="151203"/>
                </a:lnTo>
                <a:lnTo>
                  <a:pt x="214207" y="128861"/>
                </a:lnTo>
                <a:lnTo>
                  <a:pt x="255601" y="107991"/>
                </a:lnTo>
                <a:lnTo>
                  <a:pt x="299914" y="88684"/>
                </a:lnTo>
                <a:lnTo>
                  <a:pt x="346969" y="71028"/>
                </a:lnTo>
                <a:lnTo>
                  <a:pt x="396587" y="55113"/>
                </a:lnTo>
                <a:lnTo>
                  <a:pt x="448590" y="41029"/>
                </a:lnTo>
                <a:lnTo>
                  <a:pt x="502801" y="28866"/>
                </a:lnTo>
                <a:lnTo>
                  <a:pt x="559041" y="18713"/>
                </a:lnTo>
                <a:lnTo>
                  <a:pt x="617133" y="10660"/>
                </a:lnTo>
                <a:lnTo>
                  <a:pt x="676898" y="4797"/>
                </a:lnTo>
                <a:lnTo>
                  <a:pt x="738158" y="1214"/>
                </a:lnTo>
                <a:lnTo>
                  <a:pt x="800736" y="0"/>
                </a:lnTo>
                <a:lnTo>
                  <a:pt x="863314" y="1214"/>
                </a:lnTo>
                <a:lnTo>
                  <a:pt x="924574" y="4797"/>
                </a:lnTo>
                <a:lnTo>
                  <a:pt x="984340" y="10660"/>
                </a:lnTo>
                <a:lnTo>
                  <a:pt x="1042433" y="18713"/>
                </a:lnTo>
                <a:lnTo>
                  <a:pt x="1098674" y="28866"/>
                </a:lnTo>
                <a:lnTo>
                  <a:pt x="1152886" y="41029"/>
                </a:lnTo>
                <a:lnTo>
                  <a:pt x="1204891" y="55113"/>
                </a:lnTo>
                <a:lnTo>
                  <a:pt x="1254511" y="71028"/>
                </a:lnTo>
                <a:lnTo>
                  <a:pt x="1301567" y="88684"/>
                </a:lnTo>
                <a:lnTo>
                  <a:pt x="1345882" y="107991"/>
                </a:lnTo>
                <a:lnTo>
                  <a:pt x="1387277" y="128861"/>
                </a:lnTo>
                <a:lnTo>
                  <a:pt x="1425575" y="151203"/>
                </a:lnTo>
                <a:lnTo>
                  <a:pt x="1460598" y="174927"/>
                </a:lnTo>
                <a:lnTo>
                  <a:pt x="1492167" y="199945"/>
                </a:lnTo>
                <a:lnTo>
                  <a:pt x="1520104" y="226165"/>
                </a:lnTo>
                <a:lnTo>
                  <a:pt x="1564373" y="281857"/>
                </a:lnTo>
                <a:lnTo>
                  <a:pt x="1591978" y="341285"/>
                </a:lnTo>
                <a:lnTo>
                  <a:pt x="1601496" y="403733"/>
                </a:lnTo>
                <a:lnTo>
                  <a:pt x="1599087" y="435271"/>
                </a:lnTo>
                <a:lnTo>
                  <a:pt x="1580347" y="496269"/>
                </a:lnTo>
                <a:lnTo>
                  <a:pt x="1544232" y="553895"/>
                </a:lnTo>
                <a:lnTo>
                  <a:pt x="1492167" y="607431"/>
                </a:lnTo>
                <a:lnTo>
                  <a:pt x="1460598" y="632441"/>
                </a:lnTo>
                <a:lnTo>
                  <a:pt x="1425575" y="656159"/>
                </a:lnTo>
                <a:lnTo>
                  <a:pt x="1387277" y="678495"/>
                </a:lnTo>
                <a:lnTo>
                  <a:pt x="1345882" y="699360"/>
                </a:lnTo>
                <a:lnTo>
                  <a:pt x="1301567" y="718664"/>
                </a:lnTo>
                <a:lnTo>
                  <a:pt x="1254511" y="736317"/>
                </a:lnTo>
                <a:lnTo>
                  <a:pt x="1204891" y="752230"/>
                </a:lnTo>
                <a:lnTo>
                  <a:pt x="1152886" y="766312"/>
                </a:lnTo>
                <a:lnTo>
                  <a:pt x="1098674" y="778474"/>
                </a:lnTo>
                <a:lnTo>
                  <a:pt x="1042433" y="788626"/>
                </a:lnTo>
                <a:lnTo>
                  <a:pt x="984340" y="796678"/>
                </a:lnTo>
                <a:lnTo>
                  <a:pt x="924574" y="802541"/>
                </a:lnTo>
                <a:lnTo>
                  <a:pt x="863314" y="806124"/>
                </a:lnTo>
                <a:lnTo>
                  <a:pt x="800736" y="807339"/>
                </a:lnTo>
                <a:lnTo>
                  <a:pt x="738158" y="806124"/>
                </a:lnTo>
                <a:lnTo>
                  <a:pt x="676898" y="802541"/>
                </a:lnTo>
                <a:lnTo>
                  <a:pt x="617133" y="796678"/>
                </a:lnTo>
                <a:lnTo>
                  <a:pt x="559041" y="788626"/>
                </a:lnTo>
                <a:lnTo>
                  <a:pt x="502801" y="778474"/>
                </a:lnTo>
                <a:lnTo>
                  <a:pt x="448590" y="766312"/>
                </a:lnTo>
                <a:lnTo>
                  <a:pt x="396587" y="752230"/>
                </a:lnTo>
                <a:lnTo>
                  <a:pt x="346969" y="736317"/>
                </a:lnTo>
                <a:lnTo>
                  <a:pt x="299914" y="718664"/>
                </a:lnTo>
                <a:lnTo>
                  <a:pt x="255601" y="699360"/>
                </a:lnTo>
                <a:lnTo>
                  <a:pt x="214207" y="678495"/>
                </a:lnTo>
                <a:lnTo>
                  <a:pt x="175911" y="656159"/>
                </a:lnTo>
                <a:lnTo>
                  <a:pt x="140890" y="632441"/>
                </a:lnTo>
                <a:lnTo>
                  <a:pt x="109322" y="607431"/>
                </a:lnTo>
                <a:lnTo>
                  <a:pt x="81386" y="581219"/>
                </a:lnTo>
                <a:lnTo>
                  <a:pt x="37121" y="525549"/>
                </a:lnTo>
                <a:lnTo>
                  <a:pt x="9517" y="466147"/>
                </a:lnTo>
                <a:lnTo>
                  <a:pt x="0" y="403733"/>
                </a:lnTo>
                <a:close/>
              </a:path>
            </a:pathLst>
          </a:custGeom>
          <a:ln w="25400">
            <a:solidFill>
              <a:srgbClr val="548ED4"/>
            </a:solidFill>
          </a:ln>
        </p:spPr>
        <p:txBody>
          <a:bodyPr wrap="square" lIns="0" tIns="0" rIns="0" bIns="0" rtlCol="0"/>
          <a:lstStyle/>
          <a:p>
            <a:endParaRPr/>
          </a:p>
        </p:txBody>
      </p:sp>
      <p:sp>
        <p:nvSpPr>
          <p:cNvPr id="10" name="object 10"/>
          <p:cNvSpPr txBox="1"/>
          <p:nvPr/>
        </p:nvSpPr>
        <p:spPr>
          <a:xfrm>
            <a:off x="408838" y="238125"/>
            <a:ext cx="878205"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Times New Roman"/>
                <a:cs typeface="Times New Roman"/>
              </a:rPr>
              <a:t>Neural </a:t>
            </a:r>
            <a:r>
              <a:rPr sz="1800" b="1" spc="-25" dirty="0">
                <a:latin typeface="Times New Roman"/>
                <a:cs typeface="Times New Roman"/>
              </a:rPr>
              <a:t>Wellness</a:t>
            </a:r>
            <a:endParaRPr sz="1800">
              <a:latin typeface="Times New Roman"/>
              <a:cs typeface="Times New Roman"/>
            </a:endParaRPr>
          </a:p>
        </p:txBody>
      </p:sp>
      <p:pic>
        <p:nvPicPr>
          <p:cNvPr id="7" name="object 7"/>
          <p:cNvPicPr/>
          <p:nvPr/>
        </p:nvPicPr>
        <p:blipFill>
          <a:blip r:embed="rId3" cstate="print"/>
          <a:stretch>
            <a:fillRect/>
          </a:stretch>
        </p:blipFill>
        <p:spPr>
          <a:xfrm>
            <a:off x="10306397" y="193444"/>
            <a:ext cx="1708755" cy="806268"/>
          </a:xfrm>
          <a:prstGeom prst="rect">
            <a:avLst/>
          </a:prstGeom>
        </p:spPr>
      </p:pic>
      <p:grpSp>
        <p:nvGrpSpPr>
          <p:cNvPr id="3" name="object 3"/>
          <p:cNvGrpSpPr/>
          <p:nvPr/>
        </p:nvGrpSpPr>
        <p:grpSpPr>
          <a:xfrm>
            <a:off x="347180" y="1342788"/>
            <a:ext cx="4342130" cy="5070577"/>
            <a:chOff x="373595" y="1591500"/>
            <a:chExt cx="4342130" cy="5092700"/>
          </a:xfrm>
        </p:grpSpPr>
        <p:sp>
          <p:nvSpPr>
            <p:cNvPr id="4" name="object 4"/>
            <p:cNvSpPr/>
            <p:nvPr/>
          </p:nvSpPr>
          <p:spPr>
            <a:xfrm>
              <a:off x="378358" y="1596263"/>
              <a:ext cx="4332605" cy="5083175"/>
            </a:xfrm>
            <a:custGeom>
              <a:avLst/>
              <a:gdLst/>
              <a:ahLst/>
              <a:cxnLst/>
              <a:rect l="l" t="t" r="r" b="b"/>
              <a:pathLst>
                <a:path w="4332605" h="5083175">
                  <a:moveTo>
                    <a:pt x="4332579" y="0"/>
                  </a:moveTo>
                  <a:lnTo>
                    <a:pt x="753668" y="0"/>
                  </a:lnTo>
                  <a:lnTo>
                    <a:pt x="706005" y="1482"/>
                  </a:lnTo>
                  <a:lnTo>
                    <a:pt x="659129" y="5872"/>
                  </a:lnTo>
                  <a:lnTo>
                    <a:pt x="613130" y="13080"/>
                  </a:lnTo>
                  <a:lnTo>
                    <a:pt x="568094" y="23018"/>
                  </a:lnTo>
                  <a:lnTo>
                    <a:pt x="524112" y="35597"/>
                  </a:lnTo>
                  <a:lnTo>
                    <a:pt x="481271" y="50731"/>
                  </a:lnTo>
                  <a:lnTo>
                    <a:pt x="439658" y="68329"/>
                  </a:lnTo>
                  <a:lnTo>
                    <a:pt x="399364" y="88304"/>
                  </a:lnTo>
                  <a:lnTo>
                    <a:pt x="360475" y="110568"/>
                  </a:lnTo>
                  <a:lnTo>
                    <a:pt x="323080" y="135032"/>
                  </a:lnTo>
                  <a:lnTo>
                    <a:pt x="287268" y="161607"/>
                  </a:lnTo>
                  <a:lnTo>
                    <a:pt x="253126" y="190207"/>
                  </a:lnTo>
                  <a:lnTo>
                    <a:pt x="220743" y="220741"/>
                  </a:lnTo>
                  <a:lnTo>
                    <a:pt x="190207" y="253123"/>
                  </a:lnTo>
                  <a:lnTo>
                    <a:pt x="161607" y="287263"/>
                  </a:lnTo>
                  <a:lnTo>
                    <a:pt x="135031" y="323074"/>
                  </a:lnTo>
                  <a:lnTo>
                    <a:pt x="110567" y="360466"/>
                  </a:lnTo>
                  <a:lnTo>
                    <a:pt x="88303" y="399352"/>
                  </a:lnTo>
                  <a:lnTo>
                    <a:pt x="68328" y="439644"/>
                  </a:lnTo>
                  <a:lnTo>
                    <a:pt x="50730" y="481253"/>
                  </a:lnTo>
                  <a:lnTo>
                    <a:pt x="35597" y="524090"/>
                  </a:lnTo>
                  <a:lnTo>
                    <a:pt x="23017" y="568068"/>
                  </a:lnTo>
                  <a:lnTo>
                    <a:pt x="13079" y="613098"/>
                  </a:lnTo>
                  <a:lnTo>
                    <a:pt x="5872" y="659092"/>
                  </a:lnTo>
                  <a:lnTo>
                    <a:pt x="1482" y="705961"/>
                  </a:lnTo>
                  <a:lnTo>
                    <a:pt x="0" y="753617"/>
                  </a:lnTo>
                  <a:lnTo>
                    <a:pt x="0" y="5083098"/>
                  </a:lnTo>
                  <a:lnTo>
                    <a:pt x="3578961" y="5083098"/>
                  </a:lnTo>
                  <a:lnTo>
                    <a:pt x="3626618" y="5081616"/>
                  </a:lnTo>
                  <a:lnTo>
                    <a:pt x="3673487" y="5077226"/>
                  </a:lnTo>
                  <a:lnTo>
                    <a:pt x="3719481" y="5070019"/>
                  </a:lnTo>
                  <a:lnTo>
                    <a:pt x="3764511" y="5060081"/>
                  </a:lnTo>
                  <a:lnTo>
                    <a:pt x="3808489" y="5047501"/>
                  </a:lnTo>
                  <a:lnTo>
                    <a:pt x="3851326" y="5032368"/>
                  </a:lnTo>
                  <a:lnTo>
                    <a:pt x="3892935" y="5014770"/>
                  </a:lnTo>
                  <a:lnTo>
                    <a:pt x="3933226" y="4994795"/>
                  </a:lnTo>
                  <a:lnTo>
                    <a:pt x="3972112" y="4972531"/>
                  </a:lnTo>
                  <a:lnTo>
                    <a:pt x="4009505" y="4948067"/>
                  </a:lnTo>
                  <a:lnTo>
                    <a:pt x="4045315" y="4921491"/>
                  </a:lnTo>
                  <a:lnTo>
                    <a:pt x="4079456" y="4892892"/>
                  </a:lnTo>
                  <a:lnTo>
                    <a:pt x="4111837" y="4862356"/>
                  </a:lnTo>
                  <a:lnTo>
                    <a:pt x="4142372" y="4829974"/>
                  </a:lnTo>
                  <a:lnTo>
                    <a:pt x="4170971" y="4795833"/>
                  </a:lnTo>
                  <a:lnTo>
                    <a:pt x="4197547" y="4760021"/>
                  </a:lnTo>
                  <a:lnTo>
                    <a:pt x="4222011" y="4722627"/>
                  </a:lnTo>
                  <a:lnTo>
                    <a:pt x="4244275" y="4683738"/>
                  </a:lnTo>
                  <a:lnTo>
                    <a:pt x="4264250" y="4643444"/>
                  </a:lnTo>
                  <a:lnTo>
                    <a:pt x="4281848" y="4601833"/>
                  </a:lnTo>
                  <a:lnTo>
                    <a:pt x="4296981" y="4558992"/>
                  </a:lnTo>
                  <a:lnTo>
                    <a:pt x="4309561" y="4515011"/>
                  </a:lnTo>
                  <a:lnTo>
                    <a:pt x="4319499" y="4469977"/>
                  </a:lnTo>
                  <a:lnTo>
                    <a:pt x="4326707" y="4423979"/>
                  </a:lnTo>
                  <a:lnTo>
                    <a:pt x="4331096" y="4377104"/>
                  </a:lnTo>
                  <a:lnTo>
                    <a:pt x="4332579" y="4329442"/>
                  </a:lnTo>
                  <a:lnTo>
                    <a:pt x="4332579" y="0"/>
                  </a:lnTo>
                  <a:close/>
                </a:path>
              </a:pathLst>
            </a:custGeom>
          </p:spPr>
          <p:style>
            <a:lnRef idx="2">
              <a:schemeClr val="dk1"/>
            </a:lnRef>
            <a:fillRef idx="1">
              <a:schemeClr val="lt1"/>
            </a:fillRef>
            <a:effectRef idx="0">
              <a:schemeClr val="dk1"/>
            </a:effectRef>
            <a:fontRef idx="minor">
              <a:schemeClr val="dk1"/>
            </a:fontRef>
          </p:style>
          <p:txBody>
            <a:bodyPr wrap="square" lIns="0" tIns="0" rIns="0" bIns="0" rtlCol="0"/>
            <a:lstStyle/>
            <a:p>
              <a:endParaRPr dirty="0"/>
            </a:p>
          </p:txBody>
        </p:sp>
        <p:sp>
          <p:nvSpPr>
            <p:cNvPr id="5" name="object 5"/>
            <p:cNvSpPr/>
            <p:nvPr/>
          </p:nvSpPr>
          <p:spPr>
            <a:xfrm>
              <a:off x="378358" y="1596263"/>
              <a:ext cx="4332605" cy="5083175"/>
            </a:xfrm>
            <a:custGeom>
              <a:avLst/>
              <a:gdLst/>
              <a:ahLst/>
              <a:cxnLst/>
              <a:rect l="l" t="t" r="r" b="b"/>
              <a:pathLst>
                <a:path w="4332605" h="5083175">
                  <a:moveTo>
                    <a:pt x="753668" y="0"/>
                  </a:moveTo>
                  <a:lnTo>
                    <a:pt x="4332579" y="0"/>
                  </a:lnTo>
                  <a:lnTo>
                    <a:pt x="4332579" y="4329442"/>
                  </a:lnTo>
                  <a:lnTo>
                    <a:pt x="4331096" y="4377104"/>
                  </a:lnTo>
                  <a:lnTo>
                    <a:pt x="4326707" y="4423979"/>
                  </a:lnTo>
                  <a:lnTo>
                    <a:pt x="4319499" y="4469977"/>
                  </a:lnTo>
                  <a:lnTo>
                    <a:pt x="4309561" y="4515011"/>
                  </a:lnTo>
                  <a:lnTo>
                    <a:pt x="4296981" y="4558992"/>
                  </a:lnTo>
                  <a:lnTo>
                    <a:pt x="4281848" y="4601833"/>
                  </a:lnTo>
                  <a:lnTo>
                    <a:pt x="4264250" y="4643444"/>
                  </a:lnTo>
                  <a:lnTo>
                    <a:pt x="4244275" y="4683738"/>
                  </a:lnTo>
                  <a:lnTo>
                    <a:pt x="4222011" y="4722627"/>
                  </a:lnTo>
                  <a:lnTo>
                    <a:pt x="4197547" y="4760021"/>
                  </a:lnTo>
                  <a:lnTo>
                    <a:pt x="4170971" y="4795833"/>
                  </a:lnTo>
                  <a:lnTo>
                    <a:pt x="4142372" y="4829974"/>
                  </a:lnTo>
                  <a:lnTo>
                    <a:pt x="4111837" y="4862356"/>
                  </a:lnTo>
                  <a:lnTo>
                    <a:pt x="4079456" y="4892892"/>
                  </a:lnTo>
                  <a:lnTo>
                    <a:pt x="4045315" y="4921491"/>
                  </a:lnTo>
                  <a:lnTo>
                    <a:pt x="4009505" y="4948067"/>
                  </a:lnTo>
                  <a:lnTo>
                    <a:pt x="3972112" y="4972531"/>
                  </a:lnTo>
                  <a:lnTo>
                    <a:pt x="3933226" y="4994795"/>
                  </a:lnTo>
                  <a:lnTo>
                    <a:pt x="3892935" y="5014770"/>
                  </a:lnTo>
                  <a:lnTo>
                    <a:pt x="3851326" y="5032368"/>
                  </a:lnTo>
                  <a:lnTo>
                    <a:pt x="3808489" y="5047501"/>
                  </a:lnTo>
                  <a:lnTo>
                    <a:pt x="3764511" y="5060081"/>
                  </a:lnTo>
                  <a:lnTo>
                    <a:pt x="3719481" y="5070019"/>
                  </a:lnTo>
                  <a:lnTo>
                    <a:pt x="3673487" y="5077226"/>
                  </a:lnTo>
                  <a:lnTo>
                    <a:pt x="3626618" y="5081616"/>
                  </a:lnTo>
                  <a:lnTo>
                    <a:pt x="3578961" y="5083098"/>
                  </a:lnTo>
                  <a:lnTo>
                    <a:pt x="0" y="5083098"/>
                  </a:lnTo>
                  <a:lnTo>
                    <a:pt x="0" y="753617"/>
                  </a:lnTo>
                  <a:lnTo>
                    <a:pt x="1482" y="705961"/>
                  </a:lnTo>
                  <a:lnTo>
                    <a:pt x="5872" y="659092"/>
                  </a:lnTo>
                  <a:lnTo>
                    <a:pt x="13079" y="613098"/>
                  </a:lnTo>
                  <a:lnTo>
                    <a:pt x="23017" y="568068"/>
                  </a:lnTo>
                  <a:lnTo>
                    <a:pt x="35597" y="524090"/>
                  </a:lnTo>
                  <a:lnTo>
                    <a:pt x="50730" y="481253"/>
                  </a:lnTo>
                  <a:lnTo>
                    <a:pt x="68328" y="439644"/>
                  </a:lnTo>
                  <a:lnTo>
                    <a:pt x="88303" y="399352"/>
                  </a:lnTo>
                  <a:lnTo>
                    <a:pt x="110567" y="360466"/>
                  </a:lnTo>
                  <a:lnTo>
                    <a:pt x="135031" y="323074"/>
                  </a:lnTo>
                  <a:lnTo>
                    <a:pt x="161607" y="287263"/>
                  </a:lnTo>
                  <a:lnTo>
                    <a:pt x="190207" y="253123"/>
                  </a:lnTo>
                  <a:lnTo>
                    <a:pt x="220743" y="220741"/>
                  </a:lnTo>
                  <a:lnTo>
                    <a:pt x="253126" y="190207"/>
                  </a:lnTo>
                  <a:lnTo>
                    <a:pt x="287268" y="161607"/>
                  </a:lnTo>
                  <a:lnTo>
                    <a:pt x="323080" y="135032"/>
                  </a:lnTo>
                  <a:lnTo>
                    <a:pt x="360475" y="110568"/>
                  </a:lnTo>
                  <a:lnTo>
                    <a:pt x="399364" y="88304"/>
                  </a:lnTo>
                  <a:lnTo>
                    <a:pt x="439658" y="68329"/>
                  </a:lnTo>
                  <a:lnTo>
                    <a:pt x="481271" y="50731"/>
                  </a:lnTo>
                  <a:lnTo>
                    <a:pt x="524112" y="35597"/>
                  </a:lnTo>
                  <a:lnTo>
                    <a:pt x="568094" y="23018"/>
                  </a:lnTo>
                  <a:lnTo>
                    <a:pt x="613130" y="13080"/>
                  </a:lnTo>
                  <a:lnTo>
                    <a:pt x="659129" y="5872"/>
                  </a:lnTo>
                  <a:lnTo>
                    <a:pt x="706005" y="1482"/>
                  </a:lnTo>
                  <a:lnTo>
                    <a:pt x="753668" y="0"/>
                  </a:lnTo>
                  <a:close/>
                </a:path>
              </a:pathLst>
            </a:custGeom>
            <a:ln/>
          </p:spPr>
          <p:style>
            <a:lnRef idx="2">
              <a:schemeClr val="dk1"/>
            </a:lnRef>
            <a:fillRef idx="1">
              <a:schemeClr val="lt1"/>
            </a:fillRef>
            <a:effectRef idx="0">
              <a:schemeClr val="dk1"/>
            </a:effectRef>
            <a:fontRef idx="minor">
              <a:schemeClr val="dk1"/>
            </a:fontRef>
          </p:style>
          <p:txBody>
            <a:bodyPr wrap="square" lIns="0" tIns="0" rIns="0" bIns="0" rtlCol="0"/>
            <a:lstStyle/>
            <a:p>
              <a:endParaRPr/>
            </a:p>
          </p:txBody>
        </p:sp>
      </p:grpSp>
      <p:sp>
        <p:nvSpPr>
          <p:cNvPr id="6" name="object 6"/>
          <p:cNvSpPr txBox="1"/>
          <p:nvPr/>
        </p:nvSpPr>
        <p:spPr>
          <a:xfrm>
            <a:off x="606895" y="1532265"/>
            <a:ext cx="3822700" cy="4868640"/>
          </a:xfrm>
          <a:prstGeom prst="rect">
            <a:avLst/>
          </a:prstGeom>
        </p:spPr>
        <p:txBody>
          <a:bodyPr vert="horz" wrap="square" lIns="0" tIns="13335" rIns="0" bIns="0" rtlCol="0">
            <a:spAutoFit/>
          </a:bodyPr>
          <a:lstStyle/>
          <a:p>
            <a:pPr marL="12700">
              <a:lnSpc>
                <a:spcPct val="100000"/>
              </a:lnSpc>
              <a:spcBef>
                <a:spcPts val="105"/>
              </a:spcBef>
            </a:pPr>
            <a:r>
              <a:rPr lang="en-IN" sz="1400" b="1" dirty="0">
                <a:latin typeface="Times New Roman"/>
                <a:cs typeface="Times New Roman"/>
              </a:rPr>
              <a:t>Technology Stack</a:t>
            </a:r>
          </a:p>
          <a:p>
            <a:pPr marL="298450" indent="-285750">
              <a:lnSpc>
                <a:spcPct val="100000"/>
              </a:lnSpc>
              <a:spcBef>
                <a:spcPts val="105"/>
              </a:spcBef>
              <a:buFont typeface="Arial" panose="020B0604020202020204" pitchFamily="34" charset="0"/>
              <a:buChar char="•"/>
            </a:pPr>
            <a:r>
              <a:rPr lang="en-IN" sz="1400" b="1" dirty="0">
                <a:latin typeface="Times New Roman"/>
                <a:cs typeface="Times New Roman"/>
              </a:rPr>
              <a:t>Frontend:  </a:t>
            </a:r>
            <a:r>
              <a:rPr lang="en-IN" sz="1400" dirty="0">
                <a:latin typeface="Times New Roman"/>
                <a:cs typeface="Times New Roman"/>
              </a:rPr>
              <a:t>React 19, TypeScript, and Tailwind CSS powering 4 dedicated, responsive role-based portals with </a:t>
            </a:r>
            <a:r>
              <a:rPr lang="en-IN" sz="1400" dirty="0" err="1">
                <a:latin typeface="Times New Roman"/>
                <a:cs typeface="Times New Roman"/>
              </a:rPr>
              <a:t>Lucide</a:t>
            </a:r>
            <a:r>
              <a:rPr lang="en-IN" sz="1400" dirty="0">
                <a:latin typeface="Times New Roman"/>
                <a:cs typeface="Times New Roman"/>
              </a:rPr>
              <a:t> &amp; Recharts.</a:t>
            </a:r>
          </a:p>
          <a:p>
            <a:pPr marL="298450" indent="-285750">
              <a:lnSpc>
                <a:spcPct val="100000"/>
              </a:lnSpc>
              <a:spcBef>
                <a:spcPts val="105"/>
              </a:spcBef>
              <a:buFont typeface="Arial" panose="020B0604020202020204" pitchFamily="34" charset="0"/>
              <a:buChar char="•"/>
            </a:pPr>
            <a:endParaRPr lang="en-IN" sz="1400" dirty="0">
              <a:latin typeface="Times New Roman"/>
              <a:cs typeface="Times New Roman"/>
            </a:endParaRPr>
          </a:p>
          <a:p>
            <a:pPr marL="298450" indent="-285750">
              <a:lnSpc>
                <a:spcPct val="100000"/>
              </a:lnSpc>
              <a:spcBef>
                <a:spcPts val="105"/>
              </a:spcBef>
              <a:buFont typeface="Arial" panose="020B0604020202020204" pitchFamily="34" charset="0"/>
              <a:buChar char="•"/>
            </a:pPr>
            <a:r>
              <a:rPr lang="en-IN" sz="1400" b="1" dirty="0">
                <a:latin typeface="Times New Roman"/>
                <a:cs typeface="Times New Roman"/>
              </a:rPr>
              <a:t>Backend API:  </a:t>
            </a:r>
            <a:r>
              <a:rPr lang="en-IN" sz="1400" dirty="0">
                <a:latin typeface="Times New Roman"/>
                <a:cs typeface="Times New Roman"/>
              </a:rPr>
              <a:t>Node.js &amp; Express REST API using Prisma ORM with JWT authentication and strict role isolation middleware.</a:t>
            </a:r>
          </a:p>
          <a:p>
            <a:pPr marL="298450" indent="-285750">
              <a:lnSpc>
                <a:spcPct val="100000"/>
              </a:lnSpc>
              <a:spcBef>
                <a:spcPts val="105"/>
              </a:spcBef>
              <a:buFont typeface="Arial" panose="020B0604020202020204" pitchFamily="34" charset="0"/>
              <a:buChar char="•"/>
            </a:pPr>
            <a:endParaRPr lang="en-IN" sz="1400" dirty="0">
              <a:latin typeface="Times New Roman"/>
              <a:cs typeface="Times New Roman"/>
            </a:endParaRPr>
          </a:p>
          <a:p>
            <a:pPr marL="298450" indent="-285750">
              <a:lnSpc>
                <a:spcPct val="100000"/>
              </a:lnSpc>
              <a:spcBef>
                <a:spcPts val="105"/>
              </a:spcBef>
              <a:buFont typeface="Arial" panose="020B0604020202020204" pitchFamily="34" charset="0"/>
              <a:buChar char="•"/>
            </a:pPr>
            <a:r>
              <a:rPr lang="en-IN" sz="1400" b="1" dirty="0">
                <a:latin typeface="Times New Roman"/>
                <a:cs typeface="Times New Roman"/>
              </a:rPr>
              <a:t>AI / ML Engine:  </a:t>
            </a:r>
            <a:r>
              <a:rPr lang="en-IN" sz="1400" dirty="0" err="1">
                <a:latin typeface="Times New Roman"/>
                <a:cs typeface="Times New Roman"/>
              </a:rPr>
              <a:t>FastAPI</a:t>
            </a:r>
            <a:r>
              <a:rPr lang="en-IN" sz="1400" dirty="0">
                <a:latin typeface="Times New Roman"/>
                <a:cs typeface="Times New Roman"/>
              </a:rPr>
              <a:t> microservice running Isolation Forest (anomaly detection), </a:t>
            </a:r>
            <a:r>
              <a:rPr lang="en-IN" sz="1400" dirty="0" err="1">
                <a:latin typeface="Times New Roman"/>
                <a:cs typeface="Times New Roman"/>
              </a:rPr>
              <a:t>LightGBM</a:t>
            </a:r>
            <a:r>
              <a:rPr lang="en-IN" sz="1400" dirty="0">
                <a:latin typeface="Times New Roman"/>
                <a:cs typeface="Times New Roman"/>
              </a:rPr>
              <a:t> (risk scoring), and </a:t>
            </a:r>
            <a:r>
              <a:rPr lang="en-IN" sz="1400" dirty="0" err="1">
                <a:latin typeface="Times New Roman"/>
                <a:cs typeface="Times New Roman"/>
              </a:rPr>
              <a:t>TreeSHAP</a:t>
            </a:r>
            <a:r>
              <a:rPr lang="en-IN" sz="1400" dirty="0">
                <a:latin typeface="Times New Roman"/>
                <a:cs typeface="Times New Roman"/>
              </a:rPr>
              <a:t> </a:t>
            </a:r>
          </a:p>
          <a:p>
            <a:pPr marL="12700">
              <a:lnSpc>
                <a:spcPct val="100000"/>
              </a:lnSpc>
              <a:spcBef>
                <a:spcPts val="105"/>
              </a:spcBef>
            </a:pPr>
            <a:r>
              <a:rPr lang="en-IN" sz="1400" dirty="0">
                <a:latin typeface="Times New Roman"/>
                <a:cs typeface="Times New Roman"/>
              </a:rPr>
              <a:t>      (root-cause attribution).</a:t>
            </a:r>
          </a:p>
          <a:p>
            <a:pPr marL="298450" indent="-285750">
              <a:lnSpc>
                <a:spcPct val="100000"/>
              </a:lnSpc>
              <a:spcBef>
                <a:spcPts val="105"/>
              </a:spcBef>
              <a:buFont typeface="Arial" panose="020B0604020202020204" pitchFamily="34" charset="0"/>
              <a:buChar char="•"/>
            </a:pPr>
            <a:endParaRPr lang="en-IN" sz="1400" dirty="0">
              <a:latin typeface="Times New Roman"/>
              <a:cs typeface="Times New Roman"/>
            </a:endParaRPr>
          </a:p>
          <a:p>
            <a:pPr marL="298450" indent="-285750">
              <a:lnSpc>
                <a:spcPct val="100000"/>
              </a:lnSpc>
              <a:spcBef>
                <a:spcPts val="105"/>
              </a:spcBef>
              <a:buFont typeface="Arial" panose="020B0604020202020204" pitchFamily="34" charset="0"/>
              <a:buChar char="•"/>
            </a:pPr>
            <a:r>
              <a:rPr lang="en-IN" sz="1400" b="1" dirty="0">
                <a:latin typeface="Times New Roman"/>
                <a:cs typeface="Times New Roman"/>
              </a:rPr>
              <a:t>Data Persistence:  </a:t>
            </a:r>
            <a:r>
              <a:rPr lang="en-IN" sz="1400" dirty="0">
                <a:latin typeface="Times New Roman"/>
                <a:cs typeface="Times New Roman"/>
              </a:rPr>
              <a:t>Aiven Cloud MySQL with  TLS 1.3 encryption and automated immutable audit logging for governance.</a:t>
            </a:r>
          </a:p>
          <a:p>
            <a:pPr marL="298450" indent="-285750">
              <a:lnSpc>
                <a:spcPct val="100000"/>
              </a:lnSpc>
              <a:spcBef>
                <a:spcPts val="105"/>
              </a:spcBef>
              <a:buFont typeface="Arial" panose="020B0604020202020204" pitchFamily="34" charset="0"/>
              <a:buChar char="•"/>
            </a:pPr>
            <a:endParaRPr lang="en-IN" sz="1400" dirty="0">
              <a:latin typeface="Times New Roman"/>
              <a:cs typeface="Times New Roman"/>
            </a:endParaRPr>
          </a:p>
          <a:p>
            <a:pPr marL="298450" indent="-285750">
              <a:lnSpc>
                <a:spcPct val="100000"/>
              </a:lnSpc>
              <a:spcBef>
                <a:spcPts val="105"/>
              </a:spcBef>
              <a:buFont typeface="Arial" panose="020B0604020202020204" pitchFamily="34" charset="0"/>
              <a:buChar char="•"/>
            </a:pPr>
            <a:r>
              <a:rPr lang="en-IN" sz="1400" b="1" dirty="0">
                <a:latin typeface="Times New Roman"/>
                <a:cs typeface="Times New Roman"/>
              </a:rPr>
              <a:t>Deployment &amp; Security:  </a:t>
            </a:r>
            <a:r>
              <a:rPr lang="en-IN" sz="1400" dirty="0">
                <a:latin typeface="Times New Roman"/>
                <a:cs typeface="Times New Roman"/>
              </a:rPr>
              <a:t>Docker containerized, 100% CPU-executable, and engineered for air-gapped </a:t>
            </a:r>
            <a:r>
              <a:rPr lang="en-IN" sz="1400" dirty="0" err="1">
                <a:latin typeface="Times New Roman"/>
                <a:cs typeface="Times New Roman"/>
              </a:rPr>
              <a:t>defense</a:t>
            </a:r>
            <a:r>
              <a:rPr lang="en-IN" sz="1400" dirty="0">
                <a:latin typeface="Times New Roman"/>
                <a:cs typeface="Times New Roman"/>
              </a:rPr>
              <a:t> intranet setups with zero external cloud dependencies</a:t>
            </a:r>
            <a:r>
              <a:rPr lang="en-IN" sz="1400" b="1" dirty="0">
                <a:latin typeface="Times New Roman"/>
                <a:cs typeface="Times New Roman"/>
              </a:rPr>
              <a:t>.</a:t>
            </a:r>
            <a:endParaRPr sz="1400" b="1" dirty="0">
              <a:latin typeface="Times New Roman"/>
              <a:cs typeface="Times New Roman"/>
            </a:endParaRPr>
          </a:p>
        </p:txBody>
      </p:sp>
      <p:pic>
        <p:nvPicPr>
          <p:cNvPr id="8" name="object 8"/>
          <p:cNvPicPr/>
          <p:nvPr/>
        </p:nvPicPr>
        <p:blipFill>
          <a:blip r:embed="rId4" cstate="print"/>
          <a:stretch>
            <a:fillRect/>
          </a:stretch>
        </p:blipFill>
        <p:spPr>
          <a:xfrm>
            <a:off x="4824603" y="1457289"/>
            <a:ext cx="7230491" cy="5207268"/>
          </a:xfrm>
          <a:prstGeom prst="rect">
            <a:avLst/>
          </a:prstGeom>
        </p:spPr>
      </p:pic>
      <p:pic>
        <p:nvPicPr>
          <p:cNvPr id="14" name="Picture 13" descr="tech_stack_v2_color_10pct.png"/>
          <p:cNvPicPr>
            <a:picLocks noChangeAspect="1"/>
          </p:cNvPicPr>
          <p:nvPr/>
        </p:nvPicPr>
        <p:blipFill>
          <a:blip r:embed="rId5" cstate="print"/>
          <a:stretch>
            <a:fillRect/>
          </a:stretch>
        </p:blipFill>
        <p:spPr>
          <a:xfrm>
            <a:off x="381000" y="1716334"/>
            <a:ext cx="4114800" cy="51416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p:nvPr/>
        </p:nvSpPr>
        <p:spPr>
          <a:xfrm>
            <a:off x="83892" y="76707"/>
            <a:ext cx="1530350" cy="807720"/>
          </a:xfrm>
          <a:custGeom>
            <a:avLst/>
            <a:gdLst/>
            <a:ahLst/>
            <a:cxnLst/>
            <a:rect l="l" t="t" r="r" b="b"/>
            <a:pathLst>
              <a:path w="1530350" h="807719">
                <a:moveTo>
                  <a:pt x="0" y="403606"/>
                </a:moveTo>
                <a:lnTo>
                  <a:pt x="10010" y="338143"/>
                </a:lnTo>
                <a:lnTo>
                  <a:pt x="38993" y="276043"/>
                </a:lnTo>
                <a:lnTo>
                  <a:pt x="85374" y="218134"/>
                </a:lnTo>
                <a:lnTo>
                  <a:pt x="114595" y="191012"/>
                </a:lnTo>
                <a:lnTo>
                  <a:pt x="147576" y="165250"/>
                </a:lnTo>
                <a:lnTo>
                  <a:pt x="184119" y="140951"/>
                </a:lnTo>
                <a:lnTo>
                  <a:pt x="224026" y="118221"/>
                </a:lnTo>
                <a:lnTo>
                  <a:pt x="267102" y="97162"/>
                </a:lnTo>
                <a:lnTo>
                  <a:pt x="313149" y="77878"/>
                </a:lnTo>
                <a:lnTo>
                  <a:pt x="361971" y="60474"/>
                </a:lnTo>
                <a:lnTo>
                  <a:pt x="413370" y="45053"/>
                </a:lnTo>
                <a:lnTo>
                  <a:pt x="467150" y="31720"/>
                </a:lnTo>
                <a:lnTo>
                  <a:pt x="523114" y="20578"/>
                </a:lnTo>
                <a:lnTo>
                  <a:pt x="581066" y="11731"/>
                </a:lnTo>
                <a:lnTo>
                  <a:pt x="640807" y="5283"/>
                </a:lnTo>
                <a:lnTo>
                  <a:pt x="702142" y="1338"/>
                </a:lnTo>
                <a:lnTo>
                  <a:pt x="764874" y="0"/>
                </a:lnTo>
                <a:lnTo>
                  <a:pt x="827598" y="1338"/>
                </a:lnTo>
                <a:lnTo>
                  <a:pt x="888928" y="5283"/>
                </a:lnTo>
                <a:lnTo>
                  <a:pt x="948666" y="11731"/>
                </a:lnTo>
                <a:lnTo>
                  <a:pt x="1006615" y="20578"/>
                </a:lnTo>
                <a:lnTo>
                  <a:pt x="1062579" y="31720"/>
                </a:lnTo>
                <a:lnTo>
                  <a:pt x="1116359" y="45053"/>
                </a:lnTo>
                <a:lnTo>
                  <a:pt x="1167760" y="60474"/>
                </a:lnTo>
                <a:lnTo>
                  <a:pt x="1216583" y="77878"/>
                </a:lnTo>
                <a:lnTo>
                  <a:pt x="1262633" y="97162"/>
                </a:lnTo>
                <a:lnTo>
                  <a:pt x="1305713" y="118221"/>
                </a:lnTo>
                <a:lnTo>
                  <a:pt x="1345624" y="140951"/>
                </a:lnTo>
                <a:lnTo>
                  <a:pt x="1382170" y="165250"/>
                </a:lnTo>
                <a:lnTo>
                  <a:pt x="1415155" y="191012"/>
                </a:lnTo>
                <a:lnTo>
                  <a:pt x="1444381" y="218134"/>
                </a:lnTo>
                <a:lnTo>
                  <a:pt x="1490768" y="276043"/>
                </a:lnTo>
                <a:lnTo>
                  <a:pt x="1519756" y="338143"/>
                </a:lnTo>
                <a:lnTo>
                  <a:pt x="1529769" y="403606"/>
                </a:lnTo>
                <a:lnTo>
                  <a:pt x="1527233" y="436705"/>
                </a:lnTo>
                <a:lnTo>
                  <a:pt x="1507536" y="500590"/>
                </a:lnTo>
                <a:lnTo>
                  <a:pt x="1469651" y="560699"/>
                </a:lnTo>
                <a:lnTo>
                  <a:pt x="1415155" y="616199"/>
                </a:lnTo>
                <a:lnTo>
                  <a:pt x="1382170" y="641961"/>
                </a:lnTo>
                <a:lnTo>
                  <a:pt x="1345624" y="666260"/>
                </a:lnTo>
                <a:lnTo>
                  <a:pt x="1305713" y="688990"/>
                </a:lnTo>
                <a:lnTo>
                  <a:pt x="1262633" y="710049"/>
                </a:lnTo>
                <a:lnTo>
                  <a:pt x="1216583" y="729333"/>
                </a:lnTo>
                <a:lnTo>
                  <a:pt x="1167760" y="746737"/>
                </a:lnTo>
                <a:lnTo>
                  <a:pt x="1116359" y="762158"/>
                </a:lnTo>
                <a:lnTo>
                  <a:pt x="1062579" y="775491"/>
                </a:lnTo>
                <a:lnTo>
                  <a:pt x="1006615" y="786633"/>
                </a:lnTo>
                <a:lnTo>
                  <a:pt x="948666" y="795480"/>
                </a:lnTo>
                <a:lnTo>
                  <a:pt x="888928" y="801928"/>
                </a:lnTo>
                <a:lnTo>
                  <a:pt x="827598" y="805873"/>
                </a:lnTo>
                <a:lnTo>
                  <a:pt x="764874" y="807212"/>
                </a:lnTo>
                <a:lnTo>
                  <a:pt x="702142" y="805873"/>
                </a:lnTo>
                <a:lnTo>
                  <a:pt x="640807" y="801928"/>
                </a:lnTo>
                <a:lnTo>
                  <a:pt x="581066" y="795480"/>
                </a:lnTo>
                <a:lnTo>
                  <a:pt x="523114" y="786633"/>
                </a:lnTo>
                <a:lnTo>
                  <a:pt x="467150" y="775491"/>
                </a:lnTo>
                <a:lnTo>
                  <a:pt x="413370" y="762158"/>
                </a:lnTo>
                <a:lnTo>
                  <a:pt x="361971" y="746737"/>
                </a:lnTo>
                <a:lnTo>
                  <a:pt x="313149" y="729333"/>
                </a:lnTo>
                <a:lnTo>
                  <a:pt x="267102" y="710049"/>
                </a:lnTo>
                <a:lnTo>
                  <a:pt x="224026" y="688990"/>
                </a:lnTo>
                <a:lnTo>
                  <a:pt x="184119" y="666260"/>
                </a:lnTo>
                <a:lnTo>
                  <a:pt x="147576" y="641961"/>
                </a:lnTo>
                <a:lnTo>
                  <a:pt x="114595" y="616199"/>
                </a:lnTo>
                <a:lnTo>
                  <a:pt x="85374" y="589077"/>
                </a:lnTo>
                <a:lnTo>
                  <a:pt x="38993" y="531168"/>
                </a:lnTo>
                <a:lnTo>
                  <a:pt x="10010" y="469068"/>
                </a:lnTo>
                <a:lnTo>
                  <a:pt x="0" y="403606"/>
                </a:lnTo>
                <a:close/>
              </a:path>
            </a:pathLst>
          </a:custGeom>
          <a:ln w="25400">
            <a:solidFill>
              <a:srgbClr val="548ED4"/>
            </a:solidFill>
          </a:ln>
        </p:spPr>
        <p:txBody>
          <a:bodyPr wrap="square" lIns="0" tIns="0" rIns="0" bIns="0" rtlCol="0"/>
          <a:lstStyle/>
          <a:p>
            <a:endParaRPr/>
          </a:p>
        </p:txBody>
      </p:sp>
      <p:sp>
        <p:nvSpPr>
          <p:cNvPr id="12" name="object 12"/>
          <p:cNvSpPr txBox="1"/>
          <p:nvPr/>
        </p:nvSpPr>
        <p:spPr>
          <a:xfrm>
            <a:off x="386588" y="185673"/>
            <a:ext cx="878205"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Times New Roman"/>
                <a:cs typeface="Times New Roman"/>
              </a:rPr>
              <a:t>Neural </a:t>
            </a:r>
            <a:r>
              <a:rPr sz="1800" b="1" spc="-25" dirty="0">
                <a:latin typeface="Times New Roman"/>
                <a:cs typeface="Times New Roman"/>
              </a:rPr>
              <a:t>Wellness</a:t>
            </a:r>
            <a:endParaRPr sz="1800">
              <a:latin typeface="Times New Roman"/>
              <a:cs typeface="Times New Roman"/>
            </a:endParaRPr>
          </a:p>
        </p:txBody>
      </p:sp>
      <p:pic>
        <p:nvPicPr>
          <p:cNvPr id="2" name="object 2"/>
          <p:cNvPicPr/>
          <p:nvPr/>
        </p:nvPicPr>
        <p:blipFill>
          <a:blip r:embed="rId2" cstate="print"/>
          <a:stretch>
            <a:fillRect/>
          </a:stretch>
        </p:blipFill>
        <p:spPr>
          <a:xfrm>
            <a:off x="2849691" y="466634"/>
            <a:ext cx="7320144" cy="409847"/>
          </a:xfrm>
          <a:prstGeom prst="rect">
            <a:avLst/>
          </a:prstGeom>
        </p:spPr>
      </p:pic>
      <p:sp>
        <p:nvSpPr>
          <p:cNvPr id="3" name="object 3" descr="$PPTXTitle"/>
          <p:cNvSpPr txBox="1">
            <a:spLocks noGrp="1"/>
          </p:cNvSpPr>
          <p:nvPr>
            <p:ph type="title"/>
          </p:nvPr>
        </p:nvSpPr>
        <p:spPr>
          <a:prstGeom prst="rect">
            <a:avLst/>
          </a:prstGeom>
        </p:spPr>
        <p:txBody>
          <a:bodyPr vert="horz" wrap="square" lIns="0" tIns="12065" rIns="0" bIns="0" rtlCol="0">
            <a:spAutoFit/>
          </a:bodyPr>
          <a:lstStyle/>
          <a:p>
            <a:pPr marL="834390">
              <a:lnSpc>
                <a:spcPct val="100000"/>
              </a:lnSpc>
              <a:spcBef>
                <a:spcPts val="95"/>
              </a:spcBef>
            </a:pPr>
            <a:r>
              <a:rPr spc="-25" dirty="0"/>
              <a:t>FEASIBILITY</a:t>
            </a:r>
            <a:r>
              <a:rPr spc="-350" dirty="0"/>
              <a:t> </a:t>
            </a:r>
            <a:r>
              <a:rPr dirty="0"/>
              <a:t>AND</a:t>
            </a:r>
            <a:r>
              <a:rPr spc="-65" dirty="0"/>
              <a:t> </a:t>
            </a:r>
            <a:r>
              <a:rPr spc="-10" dirty="0"/>
              <a:t>VIABILITY</a:t>
            </a:r>
          </a:p>
        </p:txBody>
      </p:sp>
      <p:pic>
        <p:nvPicPr>
          <p:cNvPr id="9" name="object 9"/>
          <p:cNvPicPr/>
          <p:nvPr/>
        </p:nvPicPr>
        <p:blipFill>
          <a:blip r:embed="rId3" cstate="print"/>
          <a:stretch>
            <a:fillRect/>
          </a:stretch>
        </p:blipFill>
        <p:spPr>
          <a:xfrm>
            <a:off x="10232362" y="56992"/>
            <a:ext cx="1758106" cy="829603"/>
          </a:xfrm>
          <a:prstGeom prst="rect">
            <a:avLst/>
          </a:prstGeom>
        </p:spPr>
      </p:pic>
      <p:pic>
        <p:nvPicPr>
          <p:cNvPr id="14" name="Picture 13">
            <a:extLst>
              <a:ext uri="{FF2B5EF4-FFF2-40B4-BE49-F238E27FC236}">
                <a16:creationId xmlns:a16="http://schemas.microsoft.com/office/drawing/2014/main" id="{AFB18A3D-C62D-C61F-82CB-EAE134A7B194}"/>
              </a:ext>
            </a:extLst>
          </p:cNvPr>
          <p:cNvPicPr>
            <a:picLocks noChangeAspect="1"/>
          </p:cNvPicPr>
          <p:nvPr/>
        </p:nvPicPr>
        <p:blipFill>
          <a:blip r:embed="rId4" cstate="print">
            <a:extLst>
              <a:ext uri="{28A0092B-C50C-407E-A947-70E740481C1C}">
                <a14:useLocalDpi xmlns:a14="http://schemas.microsoft.com/office/drawing/2010/main" val="0"/>
              </a:ext>
            </a:extLst>
          </a:blip>
          <a:srcRect r="2278" b="2915"/>
          <a:stretch>
            <a:fillRect/>
          </a:stretch>
        </p:blipFill>
        <p:spPr>
          <a:xfrm>
            <a:off x="8001000" y="1886846"/>
            <a:ext cx="3505200" cy="4718832"/>
          </a:xfrm>
          <a:prstGeom prst="rect">
            <a:avLst/>
          </a:prstGeom>
          <a:ln>
            <a:noFill/>
          </a:ln>
          <a:effectLst>
            <a:softEdge rad="112500"/>
          </a:effectLst>
        </p:spPr>
      </p:pic>
      <p:sp>
        <p:nvSpPr>
          <p:cNvPr id="15" name="Rounded Rectangle 14"/>
          <p:cNvSpPr/>
          <p:nvPr/>
        </p:nvSpPr>
        <p:spPr>
          <a:xfrm>
            <a:off x="502920" y="1005840"/>
            <a:ext cx="11155680" cy="62179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1033271"/>
            <a:ext cx="10881360" cy="415498"/>
          </a:xfrm>
          <a:prstGeom prst="rect">
            <a:avLst/>
          </a:prstGeom>
          <a:noFill/>
        </p:spPr>
        <p:txBody>
          <a:bodyPr wrap="square" lIns="0" tIns="0" rIns="0" bIns="0">
            <a:spAutoFit/>
          </a:bodyPr>
          <a:lstStyle/>
          <a:p>
            <a:pPr>
              <a:spcBef>
                <a:spcPts val="200"/>
              </a:spcBef>
              <a:spcAft>
                <a:spcPts val="0"/>
              </a:spcAft>
            </a:pPr>
            <a:r>
              <a:rPr sz="1400" b="1" dirty="0">
                <a:solidFill>
                  <a:srgbClr val="0F2744"/>
                </a:solidFill>
                <a:latin typeface="Times New Roman"/>
              </a:rPr>
              <a:t>Deployable Today &amp; Defensible Under Scrutiny: </a:t>
            </a:r>
            <a:r>
              <a:rPr sz="1300" dirty="0">
                <a:solidFill>
                  <a:srgbClr val="334155"/>
                </a:solidFill>
                <a:latin typeface="Times New Roman"/>
              </a:rPr>
              <a:t>SentinelWell</a:t>
            </a:r>
            <a:r>
              <a:rPr lang="en-IN" sz="1300" dirty="0">
                <a:solidFill>
                  <a:srgbClr val="334155"/>
                </a:solidFill>
                <a:latin typeface="Times New Roman"/>
              </a:rPr>
              <a:t> AI</a:t>
            </a:r>
            <a:r>
              <a:rPr sz="1300" dirty="0">
                <a:solidFill>
                  <a:srgbClr val="334155"/>
                </a:solidFill>
                <a:latin typeface="Times New Roman"/>
              </a:rPr>
              <a:t> runs entirely on standard CPU hardware with zero GPU dependency, engineered specifically for on-premise, low-infrastructure defense field deployments.</a:t>
            </a:r>
          </a:p>
        </p:txBody>
      </p:sp>
      <p:sp>
        <p:nvSpPr>
          <p:cNvPr id="17" name="Rounded Rectangle 16"/>
          <p:cNvSpPr/>
          <p:nvPr/>
        </p:nvSpPr>
        <p:spPr>
          <a:xfrm>
            <a:off x="502920" y="1719072"/>
            <a:ext cx="6446520" cy="237744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1773936"/>
            <a:ext cx="6172200" cy="2286000"/>
          </a:xfrm>
          <a:prstGeom prst="rect">
            <a:avLst/>
          </a:prstGeom>
          <a:noFill/>
        </p:spPr>
        <p:txBody>
          <a:bodyPr wrap="square" lIns="0" tIns="0" rIns="0" bIns="0">
            <a:spAutoFit/>
          </a:bodyPr>
          <a:lstStyle/>
          <a:p>
            <a:pPr>
              <a:spcAft>
                <a:spcPts val="400"/>
              </a:spcAft>
            </a:pPr>
            <a:r>
              <a:rPr sz="1500" b="1">
                <a:solidFill>
                  <a:srgbClr val="0369A1"/>
                </a:solidFill>
                <a:latin typeface="Book Antiqua"/>
              </a:rPr>
              <a:t>Technical &amp; Operational Feasibility</a:t>
            </a:r>
          </a:p>
          <a:p>
            <a:pPr>
              <a:spcBef>
                <a:spcPts val="200"/>
              </a:spcBef>
              <a:spcAft>
                <a:spcPts val="100"/>
              </a:spcAft>
            </a:pPr>
            <a:r>
              <a:rPr sz="1200" b="1">
                <a:solidFill>
                  <a:srgbClr val="0F172A"/>
                </a:solidFill>
                <a:latin typeface="Times New Roman"/>
              </a:rPr>
              <a:t>• Zero Hardware Barrier (100% CPU): </a:t>
            </a:r>
            <a:r>
              <a:rPr sz="1200">
                <a:solidFill>
                  <a:srgbClr val="334155"/>
                </a:solidFill>
                <a:latin typeface="Times New Roman"/>
              </a:rPr>
              <a:t>Trained and run on standard base computers; eliminates costly GPU clusters.</a:t>
            </a:r>
          </a:p>
          <a:p>
            <a:pPr>
              <a:spcBef>
                <a:spcPts val="200"/>
              </a:spcBef>
              <a:spcAft>
                <a:spcPts val="100"/>
              </a:spcAft>
            </a:pPr>
            <a:r>
              <a:rPr sz="1200" b="1">
                <a:solidFill>
                  <a:srgbClr val="0F172A"/>
                </a:solidFill>
                <a:latin typeface="Times New Roman"/>
              </a:rPr>
              <a:t>• Native Roster &amp; HRMS Integration: </a:t>
            </a:r>
            <a:r>
              <a:rPr sz="1200">
                <a:solidFill>
                  <a:srgbClr val="334155"/>
                </a:solidFill>
                <a:latin typeface="Times New Roman"/>
              </a:rPr>
              <a:t>Directly ingests duty schedules via CSV/Excel, adding zero clerical workload.</a:t>
            </a:r>
          </a:p>
          <a:p>
            <a:pPr>
              <a:spcBef>
                <a:spcPts val="200"/>
              </a:spcBef>
              <a:spcAft>
                <a:spcPts val="100"/>
              </a:spcAft>
            </a:pPr>
            <a:r>
              <a:rPr sz="1200" b="1">
                <a:solidFill>
                  <a:srgbClr val="0F172A"/>
                </a:solidFill>
                <a:latin typeface="Times New Roman"/>
              </a:rPr>
              <a:t>• 100% Air-Gapped Network Ready: </a:t>
            </a:r>
            <a:r>
              <a:rPr sz="1200">
                <a:solidFill>
                  <a:srgbClr val="334155"/>
                </a:solidFill>
                <a:latin typeface="Times New Roman"/>
              </a:rPr>
              <a:t>Runs securely on isolated battalion LANs without requiring external internet.</a:t>
            </a:r>
          </a:p>
          <a:p>
            <a:pPr>
              <a:spcBef>
                <a:spcPts val="200"/>
              </a:spcBef>
              <a:spcAft>
                <a:spcPts val="100"/>
              </a:spcAft>
            </a:pPr>
            <a:r>
              <a:rPr sz="1200" b="1">
                <a:solidFill>
                  <a:srgbClr val="0F172A"/>
                </a:solidFill>
                <a:latin typeface="Times New Roman"/>
              </a:rPr>
              <a:t>• Zero Wearable Overhead: </a:t>
            </a:r>
            <a:r>
              <a:rPr sz="1200">
                <a:solidFill>
                  <a:srgbClr val="334155"/>
                </a:solidFill>
                <a:latin typeface="Times New Roman"/>
              </a:rPr>
              <a:t>Built as a pure software overlay, saving crores over fragile smartwatches.</a:t>
            </a:r>
          </a:p>
          <a:p>
            <a:pPr>
              <a:spcBef>
                <a:spcPts val="200"/>
              </a:spcBef>
              <a:spcAft>
                <a:spcPts val="100"/>
              </a:spcAft>
            </a:pPr>
            <a:r>
              <a:rPr sz="1200" b="1">
                <a:solidFill>
                  <a:srgbClr val="0F172A"/>
                </a:solidFill>
                <a:latin typeface="Times New Roman"/>
              </a:rPr>
              <a:t>• Lightweight Compute Footprint: </a:t>
            </a:r>
            <a:r>
              <a:rPr sz="1200">
                <a:solidFill>
                  <a:srgbClr val="334155"/>
                </a:solidFill>
                <a:latin typeface="Times New Roman"/>
              </a:rPr>
              <a:t>Sub-15ms inference latency per personnel record, ensuring real-time response.</a:t>
            </a:r>
          </a:p>
        </p:txBody>
      </p:sp>
      <p:sp>
        <p:nvSpPr>
          <p:cNvPr id="19" name="Rounded Rectangle 18"/>
          <p:cNvSpPr/>
          <p:nvPr/>
        </p:nvSpPr>
        <p:spPr>
          <a:xfrm>
            <a:off x="502920" y="4187952"/>
            <a:ext cx="6446520" cy="23774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242816"/>
            <a:ext cx="6172200" cy="2286000"/>
          </a:xfrm>
          <a:prstGeom prst="rect">
            <a:avLst/>
          </a:prstGeom>
          <a:noFill/>
        </p:spPr>
        <p:txBody>
          <a:bodyPr wrap="square" lIns="0" tIns="0" rIns="0" bIns="0">
            <a:spAutoFit/>
          </a:bodyPr>
          <a:lstStyle/>
          <a:p>
            <a:pPr>
              <a:spcAft>
                <a:spcPts val="400"/>
              </a:spcAft>
            </a:pPr>
            <a:r>
              <a:rPr sz="1500" b="1">
                <a:solidFill>
                  <a:srgbClr val="15803D"/>
                </a:solidFill>
                <a:latin typeface="Book Antiqua"/>
              </a:rPr>
              <a:t>Field Viability &amp; Outpost Deployment</a:t>
            </a:r>
          </a:p>
          <a:p>
            <a:pPr>
              <a:spcBef>
                <a:spcPts val="200"/>
              </a:spcBef>
              <a:spcAft>
                <a:spcPts val="100"/>
              </a:spcAft>
            </a:pPr>
            <a:r>
              <a:rPr sz="1200" b="1">
                <a:solidFill>
                  <a:srgbClr val="0F172A"/>
                </a:solidFill>
                <a:latin typeface="Times New Roman"/>
              </a:rPr>
              <a:t>• Ethically Calibrated Proxy Data: </a:t>
            </a:r>
            <a:r>
              <a:rPr sz="1200">
                <a:solidFill>
                  <a:srgbClr val="334155"/>
                </a:solidFill>
                <a:latin typeface="Times New Roman"/>
              </a:rPr>
              <a:t>Trained on validated public benchmarks (IBM HR &amp; Indian Stress) without exposing sensitive files.</a:t>
            </a:r>
          </a:p>
          <a:p>
            <a:pPr>
              <a:spcBef>
                <a:spcPts val="200"/>
              </a:spcBef>
              <a:spcAft>
                <a:spcPts val="100"/>
              </a:spcAft>
            </a:pPr>
            <a:r>
              <a:rPr sz="1200" b="1">
                <a:solidFill>
                  <a:srgbClr val="0F172A"/>
                </a:solidFill>
                <a:latin typeface="Times New Roman"/>
              </a:rPr>
              <a:t>• Forward Outpost Ready (Offline-First): </a:t>
            </a:r>
            <a:r>
              <a:rPr sz="1200">
                <a:solidFill>
                  <a:srgbClr val="334155"/>
                </a:solidFill>
                <a:latin typeface="Times New Roman"/>
              </a:rPr>
              <a:t>Local caching enables isolated border posts to store logs locally and auto-sync when connected.</a:t>
            </a:r>
          </a:p>
          <a:p>
            <a:pPr>
              <a:spcBef>
                <a:spcPts val="200"/>
              </a:spcBef>
              <a:spcAft>
                <a:spcPts val="100"/>
              </a:spcAft>
            </a:pPr>
            <a:r>
              <a:rPr sz="1200" b="1">
                <a:solidFill>
                  <a:srgbClr val="0F172A"/>
                </a:solidFill>
                <a:latin typeface="Times New Roman"/>
              </a:rPr>
              <a:t>• Batch Model Retraining: </a:t>
            </a:r>
            <a:r>
              <a:rPr sz="1200">
                <a:solidFill>
                  <a:srgbClr val="334155"/>
                </a:solidFill>
                <a:latin typeface="Times New Roman"/>
              </a:rPr>
              <a:t>Supports periodic model calibration with newly recorded roster data without pipeline re-architecting.</a:t>
            </a:r>
          </a:p>
          <a:p>
            <a:pPr>
              <a:spcBef>
                <a:spcPts val="200"/>
              </a:spcBef>
              <a:spcAft>
                <a:spcPts val="100"/>
              </a:spcAft>
            </a:pPr>
            <a:r>
              <a:rPr sz="1200" b="1">
                <a:solidFill>
                  <a:srgbClr val="0F172A"/>
                </a:solidFill>
                <a:latin typeface="Times New Roman"/>
              </a:rPr>
              <a:t>• Modular Phased Rollout: </a:t>
            </a:r>
            <a:r>
              <a:rPr sz="1200">
                <a:solidFill>
                  <a:srgbClr val="334155"/>
                </a:solidFill>
                <a:latin typeface="Times New Roman"/>
              </a:rPr>
              <a:t>Scales seamlessly from one CRPF battalion to force-wide deployment across BSF, ITBP, and CISF.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bject 28"/>
          <p:cNvSpPr/>
          <p:nvPr/>
        </p:nvSpPr>
        <p:spPr>
          <a:xfrm>
            <a:off x="117843" y="138811"/>
            <a:ext cx="1644014" cy="845819"/>
          </a:xfrm>
          <a:custGeom>
            <a:avLst/>
            <a:gdLst/>
            <a:ahLst/>
            <a:cxnLst/>
            <a:rect l="l" t="t" r="r" b="b"/>
            <a:pathLst>
              <a:path w="1644014" h="845819">
                <a:moveTo>
                  <a:pt x="0" y="422910"/>
                </a:moveTo>
                <a:lnTo>
                  <a:pt x="8911" y="360418"/>
                </a:lnTo>
                <a:lnTo>
                  <a:pt x="34796" y="300773"/>
                </a:lnTo>
                <a:lnTo>
                  <a:pt x="76385" y="244627"/>
                </a:lnTo>
                <a:lnTo>
                  <a:pt x="132405" y="192637"/>
                </a:lnTo>
                <a:lnTo>
                  <a:pt x="165430" y="168404"/>
                </a:lnTo>
                <a:lnTo>
                  <a:pt x="201587" y="145455"/>
                </a:lnTo>
                <a:lnTo>
                  <a:pt x="240715" y="123872"/>
                </a:lnTo>
                <a:lnTo>
                  <a:pt x="282657" y="103737"/>
                </a:lnTo>
                <a:lnTo>
                  <a:pt x="327254" y="85131"/>
                </a:lnTo>
                <a:lnTo>
                  <a:pt x="374346" y="68136"/>
                </a:lnTo>
                <a:lnTo>
                  <a:pt x="423775" y="52835"/>
                </a:lnTo>
                <a:lnTo>
                  <a:pt x="475381" y="39308"/>
                </a:lnTo>
                <a:lnTo>
                  <a:pt x="529007" y="27638"/>
                </a:lnTo>
                <a:lnTo>
                  <a:pt x="584492" y="17906"/>
                </a:lnTo>
                <a:lnTo>
                  <a:pt x="641678" y="10195"/>
                </a:lnTo>
                <a:lnTo>
                  <a:pt x="700407" y="4585"/>
                </a:lnTo>
                <a:lnTo>
                  <a:pt x="760519" y="1160"/>
                </a:lnTo>
                <a:lnTo>
                  <a:pt x="821855" y="0"/>
                </a:lnTo>
                <a:lnTo>
                  <a:pt x="883188" y="1160"/>
                </a:lnTo>
                <a:lnTo>
                  <a:pt x="943298" y="4585"/>
                </a:lnTo>
                <a:lnTo>
                  <a:pt x="1002026" y="10195"/>
                </a:lnTo>
                <a:lnTo>
                  <a:pt x="1059213" y="17906"/>
                </a:lnTo>
                <a:lnTo>
                  <a:pt x="1114701" y="27638"/>
                </a:lnTo>
                <a:lnTo>
                  <a:pt x="1168329" y="39308"/>
                </a:lnTo>
                <a:lnTo>
                  <a:pt x="1219938" y="52835"/>
                </a:lnTo>
                <a:lnTo>
                  <a:pt x="1269371" y="68136"/>
                </a:lnTo>
                <a:lnTo>
                  <a:pt x="1316468" y="85131"/>
                </a:lnTo>
                <a:lnTo>
                  <a:pt x="1361069" y="103737"/>
                </a:lnTo>
                <a:lnTo>
                  <a:pt x="1403016" y="123872"/>
                </a:lnTo>
                <a:lnTo>
                  <a:pt x="1442150" y="145455"/>
                </a:lnTo>
                <a:lnTo>
                  <a:pt x="1478312" y="168404"/>
                </a:lnTo>
                <a:lnTo>
                  <a:pt x="1511342" y="192637"/>
                </a:lnTo>
                <a:lnTo>
                  <a:pt x="1541082" y="218072"/>
                </a:lnTo>
                <a:lnTo>
                  <a:pt x="1590054" y="272221"/>
                </a:lnTo>
                <a:lnTo>
                  <a:pt x="1623957" y="330199"/>
                </a:lnTo>
                <a:lnTo>
                  <a:pt x="1641518" y="391349"/>
                </a:lnTo>
                <a:lnTo>
                  <a:pt x="1643773" y="422910"/>
                </a:lnTo>
                <a:lnTo>
                  <a:pt x="1641518" y="454470"/>
                </a:lnTo>
                <a:lnTo>
                  <a:pt x="1623957" y="515620"/>
                </a:lnTo>
                <a:lnTo>
                  <a:pt x="1590054" y="573598"/>
                </a:lnTo>
                <a:lnTo>
                  <a:pt x="1541082" y="627747"/>
                </a:lnTo>
                <a:lnTo>
                  <a:pt x="1511342" y="653182"/>
                </a:lnTo>
                <a:lnTo>
                  <a:pt x="1478312" y="677415"/>
                </a:lnTo>
                <a:lnTo>
                  <a:pt x="1442150" y="700364"/>
                </a:lnTo>
                <a:lnTo>
                  <a:pt x="1403016" y="721947"/>
                </a:lnTo>
                <a:lnTo>
                  <a:pt x="1361069" y="742082"/>
                </a:lnTo>
                <a:lnTo>
                  <a:pt x="1316468" y="760688"/>
                </a:lnTo>
                <a:lnTo>
                  <a:pt x="1269371" y="777683"/>
                </a:lnTo>
                <a:lnTo>
                  <a:pt x="1219938" y="792984"/>
                </a:lnTo>
                <a:lnTo>
                  <a:pt x="1168329" y="806511"/>
                </a:lnTo>
                <a:lnTo>
                  <a:pt x="1114701" y="818181"/>
                </a:lnTo>
                <a:lnTo>
                  <a:pt x="1059213" y="827913"/>
                </a:lnTo>
                <a:lnTo>
                  <a:pt x="1002026" y="835624"/>
                </a:lnTo>
                <a:lnTo>
                  <a:pt x="943298" y="841234"/>
                </a:lnTo>
                <a:lnTo>
                  <a:pt x="883188" y="844659"/>
                </a:lnTo>
                <a:lnTo>
                  <a:pt x="821855" y="845820"/>
                </a:lnTo>
                <a:lnTo>
                  <a:pt x="760519" y="844659"/>
                </a:lnTo>
                <a:lnTo>
                  <a:pt x="700407" y="841234"/>
                </a:lnTo>
                <a:lnTo>
                  <a:pt x="641678" y="835624"/>
                </a:lnTo>
                <a:lnTo>
                  <a:pt x="584492" y="827913"/>
                </a:lnTo>
                <a:lnTo>
                  <a:pt x="529007" y="818181"/>
                </a:lnTo>
                <a:lnTo>
                  <a:pt x="475381" y="806511"/>
                </a:lnTo>
                <a:lnTo>
                  <a:pt x="423775" y="792984"/>
                </a:lnTo>
                <a:lnTo>
                  <a:pt x="374346" y="777683"/>
                </a:lnTo>
                <a:lnTo>
                  <a:pt x="327254" y="760688"/>
                </a:lnTo>
                <a:lnTo>
                  <a:pt x="282657" y="742082"/>
                </a:lnTo>
                <a:lnTo>
                  <a:pt x="240715" y="721947"/>
                </a:lnTo>
                <a:lnTo>
                  <a:pt x="201587" y="700364"/>
                </a:lnTo>
                <a:lnTo>
                  <a:pt x="165430" y="677415"/>
                </a:lnTo>
                <a:lnTo>
                  <a:pt x="132405" y="653182"/>
                </a:lnTo>
                <a:lnTo>
                  <a:pt x="102671" y="627747"/>
                </a:lnTo>
                <a:lnTo>
                  <a:pt x="53707" y="573598"/>
                </a:lnTo>
                <a:lnTo>
                  <a:pt x="19811" y="515620"/>
                </a:lnTo>
                <a:lnTo>
                  <a:pt x="2254" y="454470"/>
                </a:lnTo>
                <a:lnTo>
                  <a:pt x="0" y="422910"/>
                </a:lnTo>
                <a:close/>
              </a:path>
            </a:pathLst>
          </a:custGeom>
          <a:ln w="25400">
            <a:solidFill>
              <a:srgbClr val="548ED4"/>
            </a:solidFill>
          </a:ln>
        </p:spPr>
        <p:txBody>
          <a:bodyPr wrap="square" lIns="0" tIns="0" rIns="0" bIns="0" rtlCol="0"/>
          <a:lstStyle/>
          <a:p>
            <a:endParaRPr/>
          </a:p>
        </p:txBody>
      </p:sp>
      <p:sp>
        <p:nvSpPr>
          <p:cNvPr id="29" name="object 29"/>
          <p:cNvSpPr txBox="1"/>
          <p:nvPr/>
        </p:nvSpPr>
        <p:spPr>
          <a:xfrm>
            <a:off x="437489" y="267080"/>
            <a:ext cx="878205" cy="57467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Times New Roman"/>
                <a:cs typeface="Times New Roman"/>
              </a:rPr>
              <a:t>Neural</a:t>
            </a:r>
            <a:endParaRPr sz="1800">
              <a:latin typeface="Times New Roman"/>
              <a:cs typeface="Times New Roman"/>
            </a:endParaRPr>
          </a:p>
          <a:p>
            <a:pPr marL="12700">
              <a:lnSpc>
                <a:spcPct val="100000"/>
              </a:lnSpc>
            </a:pPr>
            <a:r>
              <a:rPr sz="1800" b="1" spc="-10" dirty="0">
                <a:latin typeface="Times New Roman"/>
                <a:cs typeface="Times New Roman"/>
              </a:rPr>
              <a:t>Wellness</a:t>
            </a:r>
            <a:endParaRPr sz="1800">
              <a:latin typeface="Times New Roman"/>
              <a:cs typeface="Times New Roman"/>
            </a:endParaRPr>
          </a:p>
        </p:txBody>
      </p:sp>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536575">
              <a:lnSpc>
                <a:spcPct val="100000"/>
              </a:lnSpc>
              <a:spcBef>
                <a:spcPts val="95"/>
              </a:spcBef>
            </a:pPr>
            <a:r>
              <a:rPr spc="-55" dirty="0"/>
              <a:t>IMPACTS</a:t>
            </a:r>
            <a:r>
              <a:rPr spc="-195" dirty="0"/>
              <a:t> </a:t>
            </a:r>
            <a:r>
              <a:rPr dirty="0"/>
              <a:t>AND</a:t>
            </a:r>
            <a:r>
              <a:rPr spc="-15" dirty="0"/>
              <a:t> </a:t>
            </a:r>
            <a:r>
              <a:rPr spc="-10" dirty="0"/>
              <a:t>BENEFITS</a:t>
            </a:r>
          </a:p>
        </p:txBody>
      </p:sp>
      <p:pic>
        <p:nvPicPr>
          <p:cNvPr id="22" name="object 22"/>
          <p:cNvPicPr/>
          <p:nvPr/>
        </p:nvPicPr>
        <p:blipFill>
          <a:blip r:embed="rId2" cstate="print"/>
          <a:stretch>
            <a:fillRect/>
          </a:stretch>
        </p:blipFill>
        <p:spPr>
          <a:xfrm>
            <a:off x="10208307" y="144734"/>
            <a:ext cx="1763824" cy="832260"/>
          </a:xfrm>
          <a:prstGeom prst="rect">
            <a:avLst/>
          </a:prstGeom>
        </p:spPr>
      </p:pic>
      <p:sp>
        <p:nvSpPr>
          <p:cNvPr id="21" name="object 21"/>
          <p:cNvSpPr/>
          <p:nvPr/>
        </p:nvSpPr>
        <p:spPr>
          <a:xfrm>
            <a:off x="204584" y="1106806"/>
            <a:ext cx="11783060" cy="45720"/>
          </a:xfrm>
          <a:custGeom>
            <a:avLst/>
            <a:gdLst/>
            <a:ahLst/>
            <a:cxnLst/>
            <a:rect l="l" t="t" r="r" b="b"/>
            <a:pathLst>
              <a:path w="11783060" h="45719">
                <a:moveTo>
                  <a:pt x="11782806" y="0"/>
                </a:moveTo>
                <a:lnTo>
                  <a:pt x="0" y="0"/>
                </a:lnTo>
                <a:lnTo>
                  <a:pt x="0" y="45718"/>
                </a:lnTo>
                <a:lnTo>
                  <a:pt x="11782806" y="45718"/>
                </a:lnTo>
                <a:lnTo>
                  <a:pt x="11782806" y="0"/>
                </a:lnTo>
                <a:close/>
              </a:path>
            </a:pathLst>
          </a:custGeom>
          <a:solidFill>
            <a:srgbClr val="244060"/>
          </a:solidFill>
        </p:spPr>
        <p:txBody>
          <a:bodyPr wrap="square" lIns="0" tIns="0" rIns="0" bIns="0" rtlCol="0"/>
          <a:lstStyle/>
          <a:p>
            <a:endParaRPr/>
          </a:p>
        </p:txBody>
      </p:sp>
      <p:pic>
        <p:nvPicPr>
          <p:cNvPr id="31" name="Picture 30">
            <a:extLst>
              <a:ext uri="{FF2B5EF4-FFF2-40B4-BE49-F238E27FC236}">
                <a16:creationId xmlns:a16="http://schemas.microsoft.com/office/drawing/2014/main" id="{C5914AFA-9729-82BE-03B9-927E9DD2A4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5801" y="1284948"/>
            <a:ext cx="7487160" cy="5291273"/>
          </a:xfrm>
          <a:prstGeom prst="rect">
            <a:avLst/>
          </a:prstGeom>
          <a:ln>
            <a:noFill/>
          </a:ln>
          <a:effectLst>
            <a:outerShdw blurRad="292100" dist="139700" dir="2700000" algn="tl" rotWithShape="0">
              <a:srgbClr val="333333">
                <a:alpha val="65000"/>
              </a:srgbClr>
            </a:outerShdw>
          </a:effectLst>
        </p:spPr>
      </p:pic>
      <p:grpSp>
        <p:nvGrpSpPr>
          <p:cNvPr id="32" name="object 3">
            <a:extLst>
              <a:ext uri="{FF2B5EF4-FFF2-40B4-BE49-F238E27FC236}">
                <a16:creationId xmlns:a16="http://schemas.microsoft.com/office/drawing/2014/main" id="{7D539191-44C7-399A-A1CA-FA8FF470B67F}"/>
              </a:ext>
            </a:extLst>
          </p:cNvPr>
          <p:cNvGrpSpPr/>
          <p:nvPr/>
        </p:nvGrpSpPr>
        <p:grpSpPr>
          <a:xfrm>
            <a:off x="204584" y="1231899"/>
            <a:ext cx="4062616" cy="5397370"/>
            <a:chOff x="373595" y="1591500"/>
            <a:chExt cx="4342130" cy="5092700"/>
          </a:xfrm>
        </p:grpSpPr>
        <p:sp>
          <p:nvSpPr>
            <p:cNvPr id="33" name="object 4">
              <a:extLst>
                <a:ext uri="{FF2B5EF4-FFF2-40B4-BE49-F238E27FC236}">
                  <a16:creationId xmlns:a16="http://schemas.microsoft.com/office/drawing/2014/main" id="{F9264A63-4386-FEFE-8E5D-99951583F11C}"/>
                </a:ext>
              </a:extLst>
            </p:cNvPr>
            <p:cNvSpPr/>
            <p:nvPr/>
          </p:nvSpPr>
          <p:spPr>
            <a:xfrm>
              <a:off x="378358" y="1596263"/>
              <a:ext cx="4332605" cy="5083175"/>
            </a:xfrm>
            <a:custGeom>
              <a:avLst/>
              <a:gdLst/>
              <a:ahLst/>
              <a:cxnLst/>
              <a:rect l="l" t="t" r="r" b="b"/>
              <a:pathLst>
                <a:path w="4332605" h="5083175">
                  <a:moveTo>
                    <a:pt x="4332579" y="0"/>
                  </a:moveTo>
                  <a:lnTo>
                    <a:pt x="753668" y="0"/>
                  </a:lnTo>
                  <a:lnTo>
                    <a:pt x="706005" y="1482"/>
                  </a:lnTo>
                  <a:lnTo>
                    <a:pt x="659129" y="5872"/>
                  </a:lnTo>
                  <a:lnTo>
                    <a:pt x="613130" y="13080"/>
                  </a:lnTo>
                  <a:lnTo>
                    <a:pt x="568094" y="23018"/>
                  </a:lnTo>
                  <a:lnTo>
                    <a:pt x="524112" y="35597"/>
                  </a:lnTo>
                  <a:lnTo>
                    <a:pt x="481271" y="50731"/>
                  </a:lnTo>
                  <a:lnTo>
                    <a:pt x="439658" y="68329"/>
                  </a:lnTo>
                  <a:lnTo>
                    <a:pt x="399364" y="88304"/>
                  </a:lnTo>
                  <a:lnTo>
                    <a:pt x="360475" y="110568"/>
                  </a:lnTo>
                  <a:lnTo>
                    <a:pt x="323080" y="135032"/>
                  </a:lnTo>
                  <a:lnTo>
                    <a:pt x="287268" y="161607"/>
                  </a:lnTo>
                  <a:lnTo>
                    <a:pt x="253126" y="190207"/>
                  </a:lnTo>
                  <a:lnTo>
                    <a:pt x="220743" y="220741"/>
                  </a:lnTo>
                  <a:lnTo>
                    <a:pt x="190207" y="253123"/>
                  </a:lnTo>
                  <a:lnTo>
                    <a:pt x="161607" y="287263"/>
                  </a:lnTo>
                  <a:lnTo>
                    <a:pt x="135031" y="323074"/>
                  </a:lnTo>
                  <a:lnTo>
                    <a:pt x="110567" y="360466"/>
                  </a:lnTo>
                  <a:lnTo>
                    <a:pt x="88303" y="399352"/>
                  </a:lnTo>
                  <a:lnTo>
                    <a:pt x="68328" y="439644"/>
                  </a:lnTo>
                  <a:lnTo>
                    <a:pt x="50730" y="481253"/>
                  </a:lnTo>
                  <a:lnTo>
                    <a:pt x="35597" y="524090"/>
                  </a:lnTo>
                  <a:lnTo>
                    <a:pt x="23017" y="568068"/>
                  </a:lnTo>
                  <a:lnTo>
                    <a:pt x="13079" y="613098"/>
                  </a:lnTo>
                  <a:lnTo>
                    <a:pt x="5872" y="659092"/>
                  </a:lnTo>
                  <a:lnTo>
                    <a:pt x="1482" y="705961"/>
                  </a:lnTo>
                  <a:lnTo>
                    <a:pt x="0" y="753617"/>
                  </a:lnTo>
                  <a:lnTo>
                    <a:pt x="0" y="5083098"/>
                  </a:lnTo>
                  <a:lnTo>
                    <a:pt x="3578961" y="5083098"/>
                  </a:lnTo>
                  <a:lnTo>
                    <a:pt x="3626618" y="5081616"/>
                  </a:lnTo>
                  <a:lnTo>
                    <a:pt x="3673487" y="5077226"/>
                  </a:lnTo>
                  <a:lnTo>
                    <a:pt x="3719481" y="5070019"/>
                  </a:lnTo>
                  <a:lnTo>
                    <a:pt x="3764511" y="5060081"/>
                  </a:lnTo>
                  <a:lnTo>
                    <a:pt x="3808489" y="5047501"/>
                  </a:lnTo>
                  <a:lnTo>
                    <a:pt x="3851326" y="5032368"/>
                  </a:lnTo>
                  <a:lnTo>
                    <a:pt x="3892935" y="5014770"/>
                  </a:lnTo>
                  <a:lnTo>
                    <a:pt x="3933226" y="4994795"/>
                  </a:lnTo>
                  <a:lnTo>
                    <a:pt x="3972112" y="4972531"/>
                  </a:lnTo>
                  <a:lnTo>
                    <a:pt x="4009505" y="4948067"/>
                  </a:lnTo>
                  <a:lnTo>
                    <a:pt x="4045315" y="4921491"/>
                  </a:lnTo>
                  <a:lnTo>
                    <a:pt x="4079456" y="4892892"/>
                  </a:lnTo>
                  <a:lnTo>
                    <a:pt x="4111837" y="4862356"/>
                  </a:lnTo>
                  <a:lnTo>
                    <a:pt x="4142372" y="4829974"/>
                  </a:lnTo>
                  <a:lnTo>
                    <a:pt x="4170971" y="4795833"/>
                  </a:lnTo>
                  <a:lnTo>
                    <a:pt x="4197547" y="4760021"/>
                  </a:lnTo>
                  <a:lnTo>
                    <a:pt x="4222011" y="4722627"/>
                  </a:lnTo>
                  <a:lnTo>
                    <a:pt x="4244275" y="4683738"/>
                  </a:lnTo>
                  <a:lnTo>
                    <a:pt x="4264250" y="4643444"/>
                  </a:lnTo>
                  <a:lnTo>
                    <a:pt x="4281848" y="4601833"/>
                  </a:lnTo>
                  <a:lnTo>
                    <a:pt x="4296981" y="4558992"/>
                  </a:lnTo>
                  <a:lnTo>
                    <a:pt x="4309561" y="4515011"/>
                  </a:lnTo>
                  <a:lnTo>
                    <a:pt x="4319499" y="4469977"/>
                  </a:lnTo>
                  <a:lnTo>
                    <a:pt x="4326707" y="4423979"/>
                  </a:lnTo>
                  <a:lnTo>
                    <a:pt x="4331096" y="4377104"/>
                  </a:lnTo>
                  <a:lnTo>
                    <a:pt x="4332579" y="4329442"/>
                  </a:lnTo>
                  <a:lnTo>
                    <a:pt x="4332579" y="0"/>
                  </a:lnTo>
                  <a:close/>
                </a:path>
              </a:pathLst>
            </a:custGeom>
            <a:solidFill>
              <a:srgbClr val="C5D9F0"/>
            </a:solidFill>
          </p:spPr>
          <p:txBody>
            <a:bodyPr wrap="square" lIns="0" tIns="0" rIns="0" bIns="0" rtlCol="0"/>
            <a:lstStyle/>
            <a:p>
              <a:endParaRPr/>
            </a:p>
          </p:txBody>
        </p:sp>
        <p:sp>
          <p:nvSpPr>
            <p:cNvPr id="34" name="object 5">
              <a:extLst>
                <a:ext uri="{FF2B5EF4-FFF2-40B4-BE49-F238E27FC236}">
                  <a16:creationId xmlns:a16="http://schemas.microsoft.com/office/drawing/2014/main" id="{C797B1BB-ECCB-9129-A142-ABFFD791FD2F}"/>
                </a:ext>
              </a:extLst>
            </p:cNvPr>
            <p:cNvSpPr/>
            <p:nvPr/>
          </p:nvSpPr>
          <p:spPr>
            <a:xfrm>
              <a:off x="378358" y="1596263"/>
              <a:ext cx="4332605" cy="5083175"/>
            </a:xfrm>
            <a:custGeom>
              <a:avLst/>
              <a:gdLst/>
              <a:ahLst/>
              <a:cxnLst/>
              <a:rect l="l" t="t" r="r" b="b"/>
              <a:pathLst>
                <a:path w="4332605" h="5083175">
                  <a:moveTo>
                    <a:pt x="753668" y="0"/>
                  </a:moveTo>
                  <a:lnTo>
                    <a:pt x="4332579" y="0"/>
                  </a:lnTo>
                  <a:lnTo>
                    <a:pt x="4332579" y="4329442"/>
                  </a:lnTo>
                  <a:lnTo>
                    <a:pt x="4331096" y="4377104"/>
                  </a:lnTo>
                  <a:lnTo>
                    <a:pt x="4326707" y="4423979"/>
                  </a:lnTo>
                  <a:lnTo>
                    <a:pt x="4319499" y="4469977"/>
                  </a:lnTo>
                  <a:lnTo>
                    <a:pt x="4309561" y="4515011"/>
                  </a:lnTo>
                  <a:lnTo>
                    <a:pt x="4296981" y="4558992"/>
                  </a:lnTo>
                  <a:lnTo>
                    <a:pt x="4281848" y="4601833"/>
                  </a:lnTo>
                  <a:lnTo>
                    <a:pt x="4264250" y="4643444"/>
                  </a:lnTo>
                  <a:lnTo>
                    <a:pt x="4244275" y="4683738"/>
                  </a:lnTo>
                  <a:lnTo>
                    <a:pt x="4222011" y="4722627"/>
                  </a:lnTo>
                  <a:lnTo>
                    <a:pt x="4197547" y="4760021"/>
                  </a:lnTo>
                  <a:lnTo>
                    <a:pt x="4170971" y="4795833"/>
                  </a:lnTo>
                  <a:lnTo>
                    <a:pt x="4142372" y="4829974"/>
                  </a:lnTo>
                  <a:lnTo>
                    <a:pt x="4111837" y="4862356"/>
                  </a:lnTo>
                  <a:lnTo>
                    <a:pt x="4079456" y="4892892"/>
                  </a:lnTo>
                  <a:lnTo>
                    <a:pt x="4045315" y="4921491"/>
                  </a:lnTo>
                  <a:lnTo>
                    <a:pt x="4009505" y="4948067"/>
                  </a:lnTo>
                  <a:lnTo>
                    <a:pt x="3972112" y="4972531"/>
                  </a:lnTo>
                  <a:lnTo>
                    <a:pt x="3933226" y="4994795"/>
                  </a:lnTo>
                  <a:lnTo>
                    <a:pt x="3892935" y="5014770"/>
                  </a:lnTo>
                  <a:lnTo>
                    <a:pt x="3851326" y="5032368"/>
                  </a:lnTo>
                  <a:lnTo>
                    <a:pt x="3808489" y="5047501"/>
                  </a:lnTo>
                  <a:lnTo>
                    <a:pt x="3764511" y="5060081"/>
                  </a:lnTo>
                  <a:lnTo>
                    <a:pt x="3719481" y="5070019"/>
                  </a:lnTo>
                  <a:lnTo>
                    <a:pt x="3673487" y="5077226"/>
                  </a:lnTo>
                  <a:lnTo>
                    <a:pt x="3626618" y="5081616"/>
                  </a:lnTo>
                  <a:lnTo>
                    <a:pt x="3578961" y="5083098"/>
                  </a:lnTo>
                  <a:lnTo>
                    <a:pt x="0" y="5083098"/>
                  </a:lnTo>
                  <a:lnTo>
                    <a:pt x="0" y="753617"/>
                  </a:lnTo>
                  <a:lnTo>
                    <a:pt x="1482" y="705961"/>
                  </a:lnTo>
                  <a:lnTo>
                    <a:pt x="5872" y="659092"/>
                  </a:lnTo>
                  <a:lnTo>
                    <a:pt x="13079" y="613098"/>
                  </a:lnTo>
                  <a:lnTo>
                    <a:pt x="23017" y="568068"/>
                  </a:lnTo>
                  <a:lnTo>
                    <a:pt x="35597" y="524090"/>
                  </a:lnTo>
                  <a:lnTo>
                    <a:pt x="50730" y="481253"/>
                  </a:lnTo>
                  <a:lnTo>
                    <a:pt x="68328" y="439644"/>
                  </a:lnTo>
                  <a:lnTo>
                    <a:pt x="88303" y="399352"/>
                  </a:lnTo>
                  <a:lnTo>
                    <a:pt x="110567" y="360466"/>
                  </a:lnTo>
                  <a:lnTo>
                    <a:pt x="135031" y="323074"/>
                  </a:lnTo>
                  <a:lnTo>
                    <a:pt x="161607" y="287263"/>
                  </a:lnTo>
                  <a:lnTo>
                    <a:pt x="190207" y="253123"/>
                  </a:lnTo>
                  <a:lnTo>
                    <a:pt x="220743" y="220741"/>
                  </a:lnTo>
                  <a:lnTo>
                    <a:pt x="253126" y="190207"/>
                  </a:lnTo>
                  <a:lnTo>
                    <a:pt x="287268" y="161607"/>
                  </a:lnTo>
                  <a:lnTo>
                    <a:pt x="323080" y="135032"/>
                  </a:lnTo>
                  <a:lnTo>
                    <a:pt x="360475" y="110568"/>
                  </a:lnTo>
                  <a:lnTo>
                    <a:pt x="399364" y="88304"/>
                  </a:lnTo>
                  <a:lnTo>
                    <a:pt x="439658" y="68329"/>
                  </a:lnTo>
                  <a:lnTo>
                    <a:pt x="481271" y="50731"/>
                  </a:lnTo>
                  <a:lnTo>
                    <a:pt x="524112" y="35597"/>
                  </a:lnTo>
                  <a:lnTo>
                    <a:pt x="568094" y="23018"/>
                  </a:lnTo>
                  <a:lnTo>
                    <a:pt x="613130" y="13080"/>
                  </a:lnTo>
                  <a:lnTo>
                    <a:pt x="659129" y="5872"/>
                  </a:lnTo>
                  <a:lnTo>
                    <a:pt x="706005" y="1482"/>
                  </a:lnTo>
                  <a:lnTo>
                    <a:pt x="753668" y="0"/>
                  </a:lnTo>
                  <a:close/>
                </a:path>
              </a:pathLst>
            </a:custGeom>
            <a:ln w="9525">
              <a:solidFill>
                <a:srgbClr val="000000"/>
              </a:solidFill>
            </a:ln>
          </p:spPr>
          <p:txBody>
            <a:bodyPr wrap="square" lIns="0" tIns="0" rIns="0" bIns="0" rtlCol="0"/>
            <a:lstStyle/>
            <a:p>
              <a:endParaRPr/>
            </a:p>
          </p:txBody>
        </p:sp>
      </p:grpSp>
      <p:sp>
        <p:nvSpPr>
          <p:cNvPr id="35" name="TextBox 34">
            <a:extLst>
              <a:ext uri="{FF2B5EF4-FFF2-40B4-BE49-F238E27FC236}">
                <a16:creationId xmlns:a16="http://schemas.microsoft.com/office/drawing/2014/main" id="{735F6E50-3201-0D3D-F1E7-9FCAD8146C81}"/>
              </a:ext>
            </a:extLst>
          </p:cNvPr>
          <p:cNvSpPr txBox="1"/>
          <p:nvPr/>
        </p:nvSpPr>
        <p:spPr>
          <a:xfrm>
            <a:off x="533400" y="1431899"/>
            <a:ext cx="3352800" cy="2539157"/>
          </a:xfrm>
          <a:prstGeom prst="rect">
            <a:avLst/>
          </a:prstGeom>
          <a:noFill/>
        </p:spPr>
        <p:txBody>
          <a:bodyPr wrap="square" rtlCol="0">
            <a:spAutoFit/>
          </a:bodyPr>
          <a:lstStyle/>
          <a:p>
            <a:r>
              <a:rPr lang="en-IN" sz="1600" u="sng" dirty="0">
                <a:solidFill>
                  <a:schemeClr val="tx2"/>
                </a:solidFill>
                <a:latin typeface="Times New Roman" panose="02020603050405020304" pitchFamily="18" charset="0"/>
                <a:cs typeface="Times New Roman" panose="02020603050405020304" pitchFamily="18" charset="0"/>
              </a:rPr>
              <a:t>Impacts</a:t>
            </a:r>
            <a:endParaRPr lang="en-IN" sz="1400" u="sng" dirty="0">
              <a:solidFill>
                <a:schemeClr val="tx2"/>
              </a:solidFill>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Identifies fatigue and welfare risks before</a:t>
            </a:r>
          </a:p>
          <a:p>
            <a:r>
              <a:rPr lang="en-US" sz="1300" dirty="0">
                <a:latin typeface="Times New Roman" panose="02020603050405020304" pitchFamily="18" charset="0"/>
                <a:cs typeface="Times New Roman" panose="02020603050405020304" pitchFamily="18" charset="0"/>
              </a:rPr>
              <a:t>     they develop into serious threats.</a:t>
            </a:r>
          </a:p>
          <a:p>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Helps welfare officers prioritize personnel </a:t>
            </a:r>
          </a:p>
          <a:p>
            <a:r>
              <a:rPr lang="en-US" sz="1300" dirty="0">
                <a:latin typeface="Times New Roman" panose="02020603050405020304" pitchFamily="18" charset="0"/>
                <a:cs typeface="Times New Roman" panose="02020603050405020304" pitchFamily="18" charset="0"/>
              </a:rPr>
              <a:t>     who may require timely support.</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Provides insights into workload and risk </a:t>
            </a:r>
          </a:p>
          <a:p>
            <a:r>
              <a:rPr lang="en-US" sz="1300" dirty="0">
                <a:latin typeface="Times New Roman" panose="02020603050405020304" pitchFamily="18" charset="0"/>
                <a:cs typeface="Times New Roman" panose="02020603050405020304" pitchFamily="18" charset="0"/>
              </a:rPr>
              <a:t>     patterns for informed decisions.</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Supports a healthier, more resilient, and </a:t>
            </a:r>
          </a:p>
          <a:p>
            <a:r>
              <a:rPr lang="en-US" sz="1300" dirty="0">
                <a:latin typeface="Times New Roman" panose="02020603050405020304" pitchFamily="18" charset="0"/>
                <a:cs typeface="Times New Roman" panose="02020603050405020304" pitchFamily="18" charset="0"/>
              </a:rPr>
              <a:t>     operationally ready force.</a:t>
            </a:r>
          </a:p>
        </p:txBody>
      </p:sp>
      <p:sp>
        <p:nvSpPr>
          <p:cNvPr id="36" name="TextBox 35">
            <a:extLst>
              <a:ext uri="{FF2B5EF4-FFF2-40B4-BE49-F238E27FC236}">
                <a16:creationId xmlns:a16="http://schemas.microsoft.com/office/drawing/2014/main" id="{BEF416B9-F78D-9BF5-D96D-44BC5FB7E120}"/>
              </a:ext>
            </a:extLst>
          </p:cNvPr>
          <p:cNvSpPr txBox="1"/>
          <p:nvPr/>
        </p:nvSpPr>
        <p:spPr>
          <a:xfrm>
            <a:off x="513734" y="3739481"/>
            <a:ext cx="3372465" cy="2785378"/>
          </a:xfrm>
          <a:prstGeom prst="rect">
            <a:avLst/>
          </a:prstGeom>
          <a:noFill/>
        </p:spPr>
        <p:txBody>
          <a:bodyPr wrap="square" rtlCol="0">
            <a:spAutoFit/>
          </a:bodyPr>
          <a:lstStyle/>
          <a:p>
            <a:endParaRPr lang="en-IN" sz="1600" u="sng" dirty="0">
              <a:solidFill>
                <a:schemeClr val="tx2"/>
              </a:solidFill>
            </a:endParaRPr>
          </a:p>
          <a:p>
            <a:r>
              <a:rPr lang="en-IN" sz="1600" u="sng" dirty="0">
                <a:solidFill>
                  <a:schemeClr val="tx2"/>
                </a:solidFill>
                <a:latin typeface="Times New Roman" panose="02020603050405020304" pitchFamily="18" charset="0"/>
                <a:cs typeface="Times New Roman" panose="02020603050405020304" pitchFamily="18" charset="0"/>
              </a:rPr>
              <a:t>Benefits</a:t>
            </a:r>
          </a:p>
          <a:p>
            <a:r>
              <a:rPr lang="en-US" sz="1300" dirty="0">
                <a:solidFill>
                  <a:schemeClr val="tx2"/>
                </a:solidFill>
                <a:latin typeface="Times New Roman" panose="02020603050405020304" pitchFamily="18" charset="0"/>
                <a:cs typeface="Times New Roman" panose="02020603050405020304" pitchFamily="18" charset="0"/>
              </a:rPr>
              <a:t>➢ </a:t>
            </a:r>
            <a:r>
              <a:rPr lang="en-US" sz="1300" dirty="0">
                <a:solidFill>
                  <a:schemeClr val="tx1"/>
                </a:solidFill>
                <a:latin typeface="Times New Roman" panose="02020603050405020304" pitchFamily="18" charset="0"/>
                <a:cs typeface="Times New Roman" panose="02020603050405020304" pitchFamily="18" charset="0"/>
              </a:rPr>
              <a:t>Enables proactive support instead of waiting</a:t>
            </a:r>
          </a:p>
          <a:p>
            <a:r>
              <a:rPr lang="en-US" sz="1300" dirty="0">
                <a:solidFill>
                  <a:schemeClr val="tx1"/>
                </a:solidFill>
                <a:latin typeface="Times New Roman" panose="02020603050405020304" pitchFamily="18" charset="0"/>
                <a:cs typeface="Times New Roman" panose="02020603050405020304" pitchFamily="18" charset="0"/>
              </a:rPr>
              <a:t>     for incidents or crises. </a:t>
            </a:r>
          </a:p>
          <a:p>
            <a:endParaRPr lang="en-US" sz="1300" dirty="0">
              <a:solidFill>
                <a:schemeClr val="tx1"/>
              </a:solidFill>
              <a:latin typeface="Times New Roman" panose="02020603050405020304" pitchFamily="18" charset="0"/>
              <a:cs typeface="Times New Roman" panose="02020603050405020304" pitchFamily="18" charset="0"/>
            </a:endParaRPr>
          </a:p>
          <a:p>
            <a:r>
              <a:rPr lang="en-US" sz="1300" dirty="0">
                <a:solidFill>
                  <a:schemeClr val="tx1"/>
                </a:solidFill>
                <a:latin typeface="Times New Roman" panose="02020603050405020304" pitchFamily="18" charset="0"/>
                <a:cs typeface="Times New Roman" panose="02020603050405020304" pitchFamily="18" charset="0"/>
              </a:rPr>
              <a:t>➢ Reduces long-term costs associated with  </a:t>
            </a:r>
          </a:p>
          <a:p>
            <a:r>
              <a:rPr lang="en-US" sz="1300" dirty="0">
                <a:solidFill>
                  <a:schemeClr val="tx1"/>
                </a:solidFill>
                <a:latin typeface="Times New Roman" panose="02020603050405020304" pitchFamily="18" charset="0"/>
                <a:cs typeface="Times New Roman" panose="02020603050405020304" pitchFamily="18" charset="0"/>
              </a:rPr>
              <a:t>     burnout and personnel recovery</a:t>
            </a:r>
          </a:p>
          <a:p>
            <a:endParaRPr lang="en-US" sz="1300" dirty="0">
              <a:solidFill>
                <a:schemeClr val="tx1"/>
              </a:solidFill>
              <a:latin typeface="Times New Roman" panose="02020603050405020304" pitchFamily="18" charset="0"/>
              <a:cs typeface="Times New Roman" panose="02020603050405020304" pitchFamily="18" charset="0"/>
            </a:endParaRPr>
          </a:p>
          <a:p>
            <a:r>
              <a:rPr lang="en-US" sz="1300" dirty="0">
                <a:solidFill>
                  <a:schemeClr val="tx1"/>
                </a:solidFill>
                <a:latin typeface="Times New Roman" panose="02020603050405020304" pitchFamily="18" charset="0"/>
                <a:cs typeface="Times New Roman" panose="02020603050405020304" pitchFamily="18" charset="0"/>
              </a:rPr>
              <a:t>➢ Can be scaled across different units and</a:t>
            </a:r>
          </a:p>
          <a:p>
            <a:r>
              <a:rPr lang="en-US" sz="1300" dirty="0">
                <a:solidFill>
                  <a:schemeClr val="tx1"/>
                </a:solidFill>
                <a:latin typeface="Times New Roman" panose="02020603050405020304" pitchFamily="18" charset="0"/>
                <a:cs typeface="Times New Roman" panose="02020603050405020304" pitchFamily="18" charset="0"/>
              </a:rPr>
              <a:t>     high stress environments.</a:t>
            </a:r>
          </a:p>
          <a:p>
            <a:endParaRPr lang="en-US" sz="1300" dirty="0">
              <a:solidFill>
                <a:schemeClr val="tx1"/>
              </a:solidFill>
              <a:latin typeface="Times New Roman" panose="02020603050405020304" pitchFamily="18" charset="0"/>
              <a:cs typeface="Times New Roman" panose="02020603050405020304" pitchFamily="18" charset="0"/>
            </a:endParaRPr>
          </a:p>
          <a:p>
            <a:r>
              <a:rPr lang="en-US" sz="1300" dirty="0">
                <a:solidFill>
                  <a:schemeClr val="tx1"/>
                </a:solidFill>
                <a:latin typeface="Times New Roman" panose="02020603050405020304" pitchFamily="18" charset="0"/>
                <a:cs typeface="Times New Roman" panose="02020603050405020304" pitchFamily="18" charset="0"/>
              </a:rPr>
              <a:t>➢ Runs on existing infrastructure without </a:t>
            </a:r>
          </a:p>
          <a:p>
            <a:r>
              <a:rPr lang="en-US" sz="1300" dirty="0">
                <a:solidFill>
                  <a:schemeClr val="tx1"/>
                </a:solidFill>
                <a:latin typeface="Times New Roman" panose="02020603050405020304" pitchFamily="18" charset="0"/>
                <a:cs typeface="Times New Roman" panose="02020603050405020304" pitchFamily="18" charset="0"/>
              </a:rPr>
              <a:t>     requiring specialized hardware</a:t>
            </a:r>
            <a:r>
              <a:rPr lang="en-US" sz="1300" dirty="0">
                <a:solidFill>
                  <a:schemeClr val="tx1"/>
                </a:solidFill>
              </a:rPr>
              <a:t>.</a:t>
            </a:r>
            <a:endParaRPr lang="en-IN" sz="13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299594" y="439202"/>
            <a:ext cx="7577574" cy="409847"/>
          </a:xfrm>
          <a:prstGeom prst="rect">
            <a:avLst/>
          </a:prstGeom>
        </p:spPr>
      </p:pic>
      <p:sp>
        <p:nvSpPr>
          <p:cNvPr id="3" name="object 3" descr="$PPTXTitle"/>
          <p:cNvSpPr txBox="1">
            <a:spLocks noGrp="1"/>
          </p:cNvSpPr>
          <p:nvPr>
            <p:ph type="title"/>
          </p:nvPr>
        </p:nvSpPr>
        <p:spPr>
          <a:prstGeom prst="rect">
            <a:avLst/>
          </a:prstGeom>
        </p:spPr>
        <p:txBody>
          <a:bodyPr vert="horz" wrap="square" lIns="0" tIns="12065" rIns="0" bIns="0" rtlCol="0">
            <a:spAutoFit/>
          </a:bodyPr>
          <a:lstStyle/>
          <a:p>
            <a:pPr marL="285115">
              <a:lnSpc>
                <a:spcPct val="100000"/>
              </a:lnSpc>
              <a:spcBef>
                <a:spcPts val="95"/>
              </a:spcBef>
            </a:pPr>
            <a:r>
              <a:rPr spc="-35" dirty="0"/>
              <a:t>RESEARCH</a:t>
            </a:r>
            <a:r>
              <a:rPr spc="-215" dirty="0"/>
              <a:t> </a:t>
            </a:r>
            <a:r>
              <a:rPr dirty="0"/>
              <a:t>AND</a:t>
            </a:r>
            <a:r>
              <a:rPr spc="-70" dirty="0"/>
              <a:t> </a:t>
            </a:r>
            <a:r>
              <a:rPr spc="-10" dirty="0"/>
              <a:t>REFERENCES</a:t>
            </a:r>
          </a:p>
        </p:txBody>
      </p:sp>
      <p:sp>
        <p:nvSpPr>
          <p:cNvPr id="4" name="object 4"/>
          <p:cNvSpPr txBox="1"/>
          <p:nvPr/>
        </p:nvSpPr>
        <p:spPr>
          <a:xfrm>
            <a:off x="502920" y="1005840"/>
            <a:ext cx="4663440" cy="3447098"/>
          </a:xfrm>
          <a:prstGeom prst="rect">
            <a:avLst/>
          </a:prstGeom>
        </p:spPr>
        <p:txBody>
          <a:bodyPr vert="horz" wrap="square" lIns="0" tIns="0" rIns="0" bIns="0" rtlCol="0">
            <a:spAutoFit/>
          </a:bodyPr>
          <a:lstStyle/>
          <a:p>
            <a:pPr marL="299085" indent="-286385">
              <a:lnSpc>
                <a:spcPct val="100000"/>
              </a:lnSpc>
              <a:spcBef>
                <a:spcPts val="0"/>
              </a:spcBef>
              <a:spcAft>
                <a:spcPts val="400"/>
              </a:spcAft>
              <a:tabLst>
                <a:tab pos="299085" algn="l"/>
              </a:tabLst>
            </a:pPr>
            <a:endParaRPr lang="en-US" sz="1700" b="1" dirty="0">
              <a:solidFill>
                <a:srgbClr val="244060"/>
              </a:solidFill>
              <a:latin typeface="Times New Roman"/>
            </a:endParaRPr>
          </a:p>
          <a:p>
            <a:pPr marL="299085" indent="-286385">
              <a:lnSpc>
                <a:spcPct val="100000"/>
              </a:lnSpc>
              <a:spcBef>
                <a:spcPts val="0"/>
              </a:spcBef>
              <a:spcAft>
                <a:spcPts val="400"/>
              </a:spcAft>
              <a:tabLst>
                <a:tab pos="299085" algn="l"/>
              </a:tabLst>
            </a:pPr>
            <a:r>
              <a:rPr sz="1700" b="1" dirty="0">
                <a:solidFill>
                  <a:srgbClr val="244060"/>
                </a:solidFill>
                <a:latin typeface="Times New Roman"/>
              </a:rPr>
              <a:t>SIH Problem &amp; Operational Context</a:t>
            </a:r>
          </a:p>
          <a:p>
            <a:pPr>
              <a:spcBef>
                <a:spcPts val="300"/>
              </a:spcBef>
              <a:spcAft>
                <a:spcPts val="200"/>
              </a:spcAft>
            </a:pPr>
            <a:r>
              <a:rPr sz="1300" b="1" dirty="0">
                <a:solidFill>
                  <a:srgbClr val="244060"/>
                </a:solidFill>
                <a:latin typeface="Times New Roman"/>
              </a:rPr>
              <a:t>• </a:t>
            </a:r>
            <a:r>
              <a:rPr sz="1300" b="1" dirty="0">
                <a:solidFill>
                  <a:srgbClr val="1E293B"/>
                </a:solidFill>
                <a:latin typeface="Times New Roman"/>
              </a:rPr>
              <a:t>Problem Statement ID: </a:t>
            </a:r>
            <a:r>
              <a:rPr lang="en-IN" sz="1300" dirty="0">
                <a:solidFill>
                  <a:srgbClr val="1E293B"/>
                </a:solidFill>
                <a:latin typeface="Times New Roman"/>
              </a:rPr>
              <a:t>SIH</a:t>
            </a:r>
            <a:r>
              <a:rPr sz="1250" dirty="0">
                <a:solidFill>
                  <a:srgbClr val="475569"/>
                </a:solidFill>
                <a:latin typeface="Times New Roman"/>
              </a:rPr>
              <a:t>26186 </a:t>
            </a:r>
            <a:r>
              <a:rPr sz="1250" b="0" dirty="0">
                <a:solidFill>
                  <a:srgbClr val="475569"/>
                </a:solidFill>
                <a:latin typeface="Times New Roman"/>
              </a:rPr>
              <a:t>(Software)</a:t>
            </a:r>
          </a:p>
          <a:p>
            <a:pPr>
              <a:spcBef>
                <a:spcPts val="300"/>
              </a:spcBef>
              <a:spcAft>
                <a:spcPts val="200"/>
              </a:spcAft>
            </a:pPr>
            <a:r>
              <a:rPr sz="1300" b="1" dirty="0">
                <a:solidFill>
                  <a:srgbClr val="244060"/>
                </a:solidFill>
                <a:latin typeface="Times New Roman"/>
              </a:rPr>
              <a:t>• </a:t>
            </a:r>
            <a:r>
              <a:rPr sz="1300" b="1" dirty="0">
                <a:solidFill>
                  <a:srgbClr val="1E293B"/>
                </a:solidFill>
                <a:latin typeface="Times New Roman"/>
              </a:rPr>
              <a:t>Ministry / Organization: </a:t>
            </a:r>
            <a:r>
              <a:rPr sz="1250" b="0" dirty="0">
                <a:solidFill>
                  <a:srgbClr val="475569"/>
                </a:solidFill>
                <a:latin typeface="Times New Roman"/>
              </a:rPr>
              <a:t>Ministry of Home Affairs (MHA) / CRPF</a:t>
            </a:r>
          </a:p>
          <a:p>
            <a:pPr>
              <a:spcBef>
                <a:spcPts val="300"/>
              </a:spcBef>
              <a:spcAft>
                <a:spcPts val="200"/>
              </a:spcAft>
            </a:pPr>
            <a:r>
              <a:rPr sz="1300" b="1" dirty="0">
                <a:solidFill>
                  <a:srgbClr val="244060"/>
                </a:solidFill>
                <a:latin typeface="Times New Roman"/>
              </a:rPr>
              <a:t>• </a:t>
            </a:r>
            <a:r>
              <a:rPr sz="1300" b="1" dirty="0">
                <a:solidFill>
                  <a:srgbClr val="1E293B"/>
                </a:solidFill>
                <a:latin typeface="Times New Roman"/>
              </a:rPr>
              <a:t>Operational Focus: </a:t>
            </a:r>
            <a:r>
              <a:rPr sz="1250" b="0" dirty="0">
                <a:solidFill>
                  <a:srgbClr val="475569"/>
                </a:solidFill>
                <a:latin typeface="Times New Roman"/>
              </a:rPr>
              <a:t>Proactive, non-punitive stress &amp; fatigue early warning</a:t>
            </a:r>
          </a:p>
          <a:p>
            <a:pPr>
              <a:spcBef>
                <a:spcPts val="1400"/>
              </a:spcBef>
              <a:spcAft>
                <a:spcPts val="400"/>
              </a:spcAft>
            </a:pPr>
            <a:r>
              <a:rPr sz="1700" b="1" dirty="0">
                <a:solidFill>
                  <a:srgbClr val="244060"/>
                </a:solidFill>
                <a:latin typeface="Times New Roman"/>
              </a:rPr>
              <a:t>Scientific Foundations &amp; Datasets</a:t>
            </a:r>
          </a:p>
          <a:p>
            <a:pPr>
              <a:spcBef>
                <a:spcPts val="300"/>
              </a:spcBef>
              <a:spcAft>
                <a:spcPts val="200"/>
              </a:spcAft>
            </a:pPr>
            <a:r>
              <a:rPr sz="1300" b="1" dirty="0">
                <a:solidFill>
                  <a:srgbClr val="244060"/>
                </a:solidFill>
                <a:latin typeface="Times New Roman"/>
              </a:rPr>
              <a:t>• </a:t>
            </a:r>
            <a:r>
              <a:rPr sz="1300" b="1" dirty="0">
                <a:solidFill>
                  <a:srgbClr val="1E293B"/>
                </a:solidFill>
                <a:latin typeface="Times New Roman"/>
              </a:rPr>
              <a:t>TreeSHAP (Nature MI, 2020): </a:t>
            </a:r>
            <a:r>
              <a:rPr sz="1250" b="0" dirty="0">
                <a:solidFill>
                  <a:srgbClr val="475569"/>
                </a:solidFill>
                <a:latin typeface="Times New Roman"/>
              </a:rPr>
              <a:t>Local</a:t>
            </a:r>
            <a:r>
              <a:rPr lang="en-US" sz="1250" b="0" dirty="0">
                <a:solidFill>
                  <a:srgbClr val="475569"/>
                </a:solidFill>
                <a:latin typeface="Times New Roman"/>
              </a:rPr>
              <a:t> feature attribution  providing top-3 stress drivers per alert</a:t>
            </a:r>
            <a:endParaRPr sz="1250" b="0" dirty="0">
              <a:solidFill>
                <a:srgbClr val="475569"/>
              </a:solidFill>
              <a:latin typeface="Times New Roman"/>
            </a:endParaRPr>
          </a:p>
          <a:p>
            <a:pPr>
              <a:spcBef>
                <a:spcPts val="300"/>
              </a:spcBef>
              <a:spcAft>
                <a:spcPts val="200"/>
              </a:spcAft>
            </a:pPr>
            <a:r>
              <a:rPr sz="1300" b="1" dirty="0">
                <a:solidFill>
                  <a:srgbClr val="244060"/>
                </a:solidFill>
                <a:latin typeface="Times New Roman"/>
              </a:rPr>
              <a:t>• </a:t>
            </a:r>
            <a:r>
              <a:rPr sz="1300" b="1" dirty="0">
                <a:solidFill>
                  <a:srgbClr val="1E293B"/>
                </a:solidFill>
                <a:latin typeface="Times New Roman"/>
              </a:rPr>
              <a:t>Isolation Forest (IEEE ICDM): </a:t>
            </a:r>
            <a:r>
              <a:rPr sz="1250" b="0" dirty="0">
                <a:solidFill>
                  <a:srgbClr val="475569"/>
                </a:solidFill>
                <a:latin typeface="Times New Roman"/>
              </a:rPr>
              <a:t>Unsupervised </a:t>
            </a:r>
            <a:r>
              <a:rPr lang="en-US" sz="1250" b="0" dirty="0">
                <a:solidFill>
                  <a:srgbClr val="475569"/>
                </a:solidFill>
                <a:latin typeface="Times New Roman"/>
              </a:rPr>
              <a:t> </a:t>
            </a:r>
            <a:r>
              <a:rPr sz="1250" b="0" dirty="0">
                <a:solidFill>
                  <a:srgbClr val="475569"/>
                </a:solidFill>
                <a:latin typeface="Times New Roman"/>
              </a:rPr>
              <a:t>multivariate anomaly detection </a:t>
            </a:r>
            <a:r>
              <a:rPr lang="en-US" sz="1250" b="0" dirty="0">
                <a:solidFill>
                  <a:srgbClr val="475569"/>
                </a:solidFill>
                <a:latin typeface="Times New Roman"/>
              </a:rPr>
              <a:t> </a:t>
            </a:r>
            <a:r>
              <a:rPr sz="1250" b="0" dirty="0">
                <a:solidFill>
                  <a:srgbClr val="475569"/>
                </a:solidFill>
                <a:latin typeface="Times New Roman"/>
              </a:rPr>
              <a:t>in duty rhythms</a:t>
            </a:r>
          </a:p>
          <a:p>
            <a:pPr>
              <a:spcBef>
                <a:spcPts val="300"/>
              </a:spcBef>
              <a:spcAft>
                <a:spcPts val="200"/>
              </a:spcAft>
            </a:pPr>
            <a:r>
              <a:rPr sz="1300" b="1" dirty="0">
                <a:solidFill>
                  <a:srgbClr val="244060"/>
                </a:solidFill>
                <a:latin typeface="Times New Roman"/>
              </a:rPr>
              <a:t>• </a:t>
            </a:r>
            <a:r>
              <a:rPr sz="1300" b="1" dirty="0">
                <a:solidFill>
                  <a:srgbClr val="1E293B"/>
                </a:solidFill>
                <a:latin typeface="Times New Roman"/>
              </a:rPr>
              <a:t>Empirical Proxy Benchmarks: </a:t>
            </a:r>
            <a:r>
              <a:rPr sz="1250" b="0" dirty="0">
                <a:solidFill>
                  <a:srgbClr val="475569"/>
                </a:solidFill>
                <a:latin typeface="Times New Roman"/>
              </a:rPr>
              <a:t>Calibrated </a:t>
            </a:r>
            <a:r>
              <a:rPr lang="en-US" sz="1250" b="0" dirty="0">
                <a:solidFill>
                  <a:srgbClr val="475569"/>
                </a:solidFill>
                <a:latin typeface="Times New Roman"/>
              </a:rPr>
              <a:t> </a:t>
            </a:r>
            <a:r>
              <a:rPr sz="1250" b="0" dirty="0">
                <a:solidFill>
                  <a:srgbClr val="475569"/>
                </a:solidFill>
                <a:latin typeface="Times New Roman"/>
              </a:rPr>
              <a:t>on IBM HR Analytics &amp; Indian </a:t>
            </a:r>
            <a:r>
              <a:rPr lang="en-US" sz="1250" b="0" dirty="0">
                <a:solidFill>
                  <a:srgbClr val="475569"/>
                </a:solidFill>
                <a:latin typeface="Times New Roman"/>
              </a:rPr>
              <a:t> </a:t>
            </a:r>
            <a:r>
              <a:rPr sz="1250" b="0" dirty="0">
                <a:solidFill>
                  <a:srgbClr val="475569"/>
                </a:solidFill>
                <a:latin typeface="Times New Roman"/>
              </a:rPr>
              <a:t>Stress datasets</a:t>
            </a:r>
          </a:p>
        </p:txBody>
      </p:sp>
      <p:sp>
        <p:nvSpPr>
          <p:cNvPr id="19" name="object 19"/>
          <p:cNvSpPr/>
          <p:nvPr/>
        </p:nvSpPr>
        <p:spPr>
          <a:xfrm>
            <a:off x="117843" y="138811"/>
            <a:ext cx="1469390" cy="762000"/>
          </a:xfrm>
          <a:custGeom>
            <a:avLst/>
            <a:gdLst/>
            <a:ahLst/>
            <a:cxnLst/>
            <a:rect l="l" t="t" r="r" b="b"/>
            <a:pathLst>
              <a:path w="1469390" h="762000">
                <a:moveTo>
                  <a:pt x="0" y="380746"/>
                </a:moveTo>
                <a:lnTo>
                  <a:pt x="10636" y="315809"/>
                </a:lnTo>
                <a:lnTo>
                  <a:pt x="41370" y="254437"/>
                </a:lnTo>
                <a:lnTo>
                  <a:pt x="90438" y="197544"/>
                </a:lnTo>
                <a:lnTo>
                  <a:pt x="121296" y="171063"/>
                </a:lnTo>
                <a:lnTo>
                  <a:pt x="156076" y="146043"/>
                </a:lnTo>
                <a:lnTo>
                  <a:pt x="194557" y="122600"/>
                </a:lnTo>
                <a:lnTo>
                  <a:pt x="236519" y="100848"/>
                </a:lnTo>
                <a:lnTo>
                  <a:pt x="281743" y="80900"/>
                </a:lnTo>
                <a:lnTo>
                  <a:pt x="330006" y="62872"/>
                </a:lnTo>
                <a:lnTo>
                  <a:pt x="381089" y="46877"/>
                </a:lnTo>
                <a:lnTo>
                  <a:pt x="434771" y="33029"/>
                </a:lnTo>
                <a:lnTo>
                  <a:pt x="490832" y="21443"/>
                </a:lnTo>
                <a:lnTo>
                  <a:pt x="549051" y="12233"/>
                </a:lnTo>
                <a:lnTo>
                  <a:pt x="609208" y="5513"/>
                </a:lnTo>
                <a:lnTo>
                  <a:pt x="671082" y="1397"/>
                </a:lnTo>
                <a:lnTo>
                  <a:pt x="734453" y="0"/>
                </a:lnTo>
                <a:lnTo>
                  <a:pt x="797824" y="1397"/>
                </a:lnTo>
                <a:lnTo>
                  <a:pt x="859698" y="5513"/>
                </a:lnTo>
                <a:lnTo>
                  <a:pt x="919855" y="12233"/>
                </a:lnTo>
                <a:lnTo>
                  <a:pt x="978073" y="21443"/>
                </a:lnTo>
                <a:lnTo>
                  <a:pt x="1034133" y="33029"/>
                </a:lnTo>
                <a:lnTo>
                  <a:pt x="1087815" y="46877"/>
                </a:lnTo>
                <a:lnTo>
                  <a:pt x="1138897" y="62872"/>
                </a:lnTo>
                <a:lnTo>
                  <a:pt x="1187159" y="80900"/>
                </a:lnTo>
                <a:lnTo>
                  <a:pt x="1232381" y="100848"/>
                </a:lnTo>
                <a:lnTo>
                  <a:pt x="1274343" y="122600"/>
                </a:lnTo>
                <a:lnTo>
                  <a:pt x="1312823" y="146043"/>
                </a:lnTo>
                <a:lnTo>
                  <a:pt x="1347602" y="171063"/>
                </a:lnTo>
                <a:lnTo>
                  <a:pt x="1378459" y="197544"/>
                </a:lnTo>
                <a:lnTo>
                  <a:pt x="1405173" y="225374"/>
                </a:lnTo>
                <a:lnTo>
                  <a:pt x="1445293" y="284621"/>
                </a:lnTo>
                <a:lnTo>
                  <a:pt x="1466198" y="347889"/>
                </a:lnTo>
                <a:lnTo>
                  <a:pt x="1468894" y="380746"/>
                </a:lnTo>
                <a:lnTo>
                  <a:pt x="1466198" y="413603"/>
                </a:lnTo>
                <a:lnTo>
                  <a:pt x="1445293" y="476879"/>
                </a:lnTo>
                <a:lnTo>
                  <a:pt x="1405173" y="536139"/>
                </a:lnTo>
                <a:lnTo>
                  <a:pt x="1378459" y="563977"/>
                </a:lnTo>
                <a:lnTo>
                  <a:pt x="1347602" y="590467"/>
                </a:lnTo>
                <a:lnTo>
                  <a:pt x="1312823" y="615496"/>
                </a:lnTo>
                <a:lnTo>
                  <a:pt x="1274343" y="638949"/>
                </a:lnTo>
                <a:lnTo>
                  <a:pt x="1232381" y="660712"/>
                </a:lnTo>
                <a:lnTo>
                  <a:pt x="1187159" y="680669"/>
                </a:lnTo>
                <a:lnTo>
                  <a:pt x="1138897" y="698707"/>
                </a:lnTo>
                <a:lnTo>
                  <a:pt x="1087815" y="714711"/>
                </a:lnTo>
                <a:lnTo>
                  <a:pt x="1034133" y="728567"/>
                </a:lnTo>
                <a:lnTo>
                  <a:pt x="978073" y="740161"/>
                </a:lnTo>
                <a:lnTo>
                  <a:pt x="919855" y="749377"/>
                </a:lnTo>
                <a:lnTo>
                  <a:pt x="859698" y="756101"/>
                </a:lnTo>
                <a:lnTo>
                  <a:pt x="797824" y="760220"/>
                </a:lnTo>
                <a:lnTo>
                  <a:pt x="734453" y="761619"/>
                </a:lnTo>
                <a:lnTo>
                  <a:pt x="671082" y="760220"/>
                </a:lnTo>
                <a:lnTo>
                  <a:pt x="609208" y="756101"/>
                </a:lnTo>
                <a:lnTo>
                  <a:pt x="549051" y="749377"/>
                </a:lnTo>
                <a:lnTo>
                  <a:pt x="490832" y="740161"/>
                </a:lnTo>
                <a:lnTo>
                  <a:pt x="434771" y="728567"/>
                </a:lnTo>
                <a:lnTo>
                  <a:pt x="381089" y="714711"/>
                </a:lnTo>
                <a:lnTo>
                  <a:pt x="330006" y="698707"/>
                </a:lnTo>
                <a:lnTo>
                  <a:pt x="281743" y="680669"/>
                </a:lnTo>
                <a:lnTo>
                  <a:pt x="236519" y="660712"/>
                </a:lnTo>
                <a:lnTo>
                  <a:pt x="194557" y="638949"/>
                </a:lnTo>
                <a:lnTo>
                  <a:pt x="156076" y="615496"/>
                </a:lnTo>
                <a:lnTo>
                  <a:pt x="121296" y="590467"/>
                </a:lnTo>
                <a:lnTo>
                  <a:pt x="90438" y="563977"/>
                </a:lnTo>
                <a:lnTo>
                  <a:pt x="63723" y="536139"/>
                </a:lnTo>
                <a:lnTo>
                  <a:pt x="23601" y="476879"/>
                </a:lnTo>
                <a:lnTo>
                  <a:pt x="2695" y="413603"/>
                </a:lnTo>
                <a:lnTo>
                  <a:pt x="0" y="380746"/>
                </a:lnTo>
                <a:close/>
              </a:path>
            </a:pathLst>
          </a:custGeom>
          <a:ln w="25400">
            <a:solidFill>
              <a:srgbClr val="548ED4"/>
            </a:solidFill>
          </a:ln>
        </p:spPr>
        <p:txBody>
          <a:bodyPr wrap="square" lIns="0" tIns="0" rIns="0" bIns="0" rtlCol="0"/>
          <a:lstStyle/>
          <a:p>
            <a:endParaRPr/>
          </a:p>
        </p:txBody>
      </p:sp>
      <p:sp>
        <p:nvSpPr>
          <p:cNvPr id="20" name="object 20"/>
          <p:cNvSpPr txBox="1"/>
          <p:nvPr/>
        </p:nvSpPr>
        <p:spPr>
          <a:xfrm>
            <a:off x="411886" y="225044"/>
            <a:ext cx="878205"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Times New Roman"/>
                <a:cs typeface="Times New Roman"/>
              </a:rPr>
              <a:t>Neural </a:t>
            </a:r>
            <a:r>
              <a:rPr sz="1800" b="1" spc="-25" dirty="0">
                <a:latin typeface="Times New Roman"/>
                <a:cs typeface="Times New Roman"/>
              </a:rPr>
              <a:t>Wellness</a:t>
            </a:r>
            <a:endParaRPr sz="1800">
              <a:latin typeface="Times New Roman"/>
              <a:cs typeface="Times New Roman"/>
            </a:endParaRPr>
          </a:p>
        </p:txBody>
      </p:sp>
      <p:pic>
        <p:nvPicPr>
          <p:cNvPr id="23" name="Picture 22" descr="707619e5-d2b6-4070-af97-1507a179d4c2.png"/>
          <p:cNvPicPr>
            <a:picLocks noChangeAspect="1"/>
          </p:cNvPicPr>
          <p:nvPr/>
        </p:nvPicPr>
        <p:blipFill>
          <a:blip r:embed="rId4" cstate="print"/>
          <a:stretch>
            <a:fillRect/>
          </a:stretch>
        </p:blipFill>
        <p:spPr>
          <a:xfrm>
            <a:off x="5486400" y="685800"/>
            <a:ext cx="6705600" cy="5029200"/>
          </a:xfrm>
          <a:prstGeom prst="rect">
            <a:avLst/>
          </a:prstGeom>
        </p:spPr>
      </p:pic>
      <p:sp>
        <p:nvSpPr>
          <p:cNvPr id="24" name="Rounded Rectangle 23"/>
          <p:cNvSpPr/>
          <p:nvPr/>
        </p:nvSpPr>
        <p:spPr>
          <a:xfrm>
            <a:off x="457200" y="5413248"/>
            <a:ext cx="11274552" cy="11155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4876800"/>
            <a:ext cx="4440318" cy="261610"/>
          </a:xfrm>
          <a:prstGeom prst="rect">
            <a:avLst/>
          </a:prstGeom>
          <a:noFill/>
        </p:spPr>
        <p:txBody>
          <a:bodyPr wrap="none" lIns="0" tIns="0" rIns="0" bIns="0">
            <a:spAutoFit/>
          </a:bodyPr>
          <a:lstStyle/>
          <a:p>
            <a:r>
              <a:rPr sz="1700" b="1" dirty="0">
                <a:solidFill>
                  <a:schemeClr val="tx1"/>
                </a:solidFill>
                <a:latin typeface="Times New Roman"/>
              </a:rPr>
              <a:t>Project Deliverables &amp; Verification </a:t>
            </a:r>
            <a:r>
              <a:rPr sz="1300" b="1" dirty="0">
                <a:solidFill>
                  <a:schemeClr val="tx1"/>
                </a:solidFill>
                <a:latin typeface="Times New Roman"/>
              </a:rPr>
              <a:t>(Click to Open)</a:t>
            </a:r>
          </a:p>
        </p:txBody>
      </p:sp>
      <p:sp>
        <p:nvSpPr>
          <p:cNvPr id="26" name="Rounded Rectangle 25"/>
          <p:cNvSpPr/>
          <p:nvPr/>
        </p:nvSpPr>
        <p:spPr>
          <a:xfrm>
            <a:off x="571500" y="5687568"/>
            <a:ext cx="2121408" cy="749808"/>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png"/>
          <p:cNvPicPr>
            <a:picLocks noChangeAspect="1"/>
          </p:cNvPicPr>
          <p:nvPr/>
        </p:nvPicPr>
        <p:blipFill>
          <a:blip r:embed="rId5" cstate="print"/>
          <a:stretch>
            <a:fillRect/>
          </a:stretch>
        </p:blipFill>
        <p:spPr>
          <a:xfrm>
            <a:off x="662940" y="5843016"/>
            <a:ext cx="438912" cy="438912"/>
          </a:xfrm>
          <a:prstGeom prst="rect">
            <a:avLst/>
          </a:prstGeom>
        </p:spPr>
      </p:pic>
      <p:sp>
        <p:nvSpPr>
          <p:cNvPr id="28" name="TextBox 27"/>
          <p:cNvSpPr txBox="1"/>
          <p:nvPr/>
        </p:nvSpPr>
        <p:spPr>
          <a:xfrm>
            <a:off x="1138428" y="5885500"/>
            <a:ext cx="1517904" cy="353943"/>
          </a:xfrm>
          <a:prstGeom prst="rect">
            <a:avLst/>
          </a:prstGeom>
          <a:noFill/>
        </p:spPr>
        <p:txBody>
          <a:bodyPr wrap="square" lIns="0" tIns="0" rIns="0" bIns="0" anchor="ctr">
            <a:spAutoFit/>
          </a:bodyPr>
          <a:lstStyle/>
          <a:p>
            <a:pPr algn="l"/>
            <a:r>
              <a:rPr sz="1100" b="1" dirty="0">
                <a:solidFill>
                  <a:srgbClr val="0F172A"/>
                </a:solidFill>
                <a:latin typeface="Arial"/>
              </a:rPr>
              <a:t>Live Prototype</a:t>
            </a:r>
          </a:p>
          <a:p>
            <a:pPr algn="l">
              <a:spcBef>
                <a:spcPts val="300"/>
              </a:spcBef>
            </a:pPr>
            <a:r>
              <a:rPr sz="950" b="1" u="sng" dirty="0">
                <a:solidFill>
                  <a:srgbClr val="0284C7"/>
                </a:solidFill>
                <a:latin typeface="Arial"/>
                <a:hlinkClick r:id="rId6"/>
              </a:rPr>
              <a:t>Demo ↗</a:t>
            </a:r>
          </a:p>
        </p:txBody>
      </p:sp>
      <p:sp>
        <p:nvSpPr>
          <p:cNvPr id="29" name="Rounded Rectangle 28"/>
          <p:cNvSpPr/>
          <p:nvPr/>
        </p:nvSpPr>
        <p:spPr>
          <a:xfrm>
            <a:off x="2802636" y="5687568"/>
            <a:ext cx="2121408"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image.png"/>
          <p:cNvPicPr>
            <a:picLocks noChangeAspect="1"/>
          </p:cNvPicPr>
          <p:nvPr/>
        </p:nvPicPr>
        <p:blipFill>
          <a:blip r:embed="rId7" cstate="print"/>
          <a:stretch>
            <a:fillRect/>
          </a:stretch>
        </p:blipFill>
        <p:spPr>
          <a:xfrm>
            <a:off x="2894076" y="5843016"/>
            <a:ext cx="438912" cy="438912"/>
          </a:xfrm>
          <a:prstGeom prst="rect">
            <a:avLst/>
          </a:prstGeom>
        </p:spPr>
      </p:pic>
      <p:sp>
        <p:nvSpPr>
          <p:cNvPr id="31" name="TextBox 30"/>
          <p:cNvSpPr txBox="1"/>
          <p:nvPr/>
        </p:nvSpPr>
        <p:spPr>
          <a:xfrm>
            <a:off x="3369564" y="5687568"/>
            <a:ext cx="1517904" cy="749808"/>
          </a:xfrm>
          <a:prstGeom prst="rect">
            <a:avLst/>
          </a:prstGeom>
          <a:noFill/>
        </p:spPr>
        <p:txBody>
          <a:bodyPr wrap="square" lIns="0" tIns="0" rIns="0" bIns="0" anchor="ctr">
            <a:spAutoFit/>
          </a:bodyPr>
          <a:lstStyle/>
          <a:p>
            <a:pPr algn="l"/>
            <a:r>
              <a:rPr sz="1100" b="1" dirty="0">
                <a:solidFill>
                  <a:srgbClr val="0F172A"/>
                </a:solidFill>
                <a:latin typeface="Arial"/>
              </a:rPr>
              <a:t>Source Code</a:t>
            </a:r>
          </a:p>
          <a:p>
            <a:pPr algn="l">
              <a:spcBef>
                <a:spcPts val="300"/>
              </a:spcBef>
            </a:pPr>
            <a:r>
              <a:rPr sz="950" b="1" u="sng" dirty="0" err="1">
                <a:solidFill>
                  <a:srgbClr val="0284C7"/>
                </a:solidFill>
                <a:latin typeface="Arial"/>
                <a:hlinkClick r:id="rId8"/>
              </a:rPr>
              <a:t>GitHub</a:t>
            </a:r>
            <a:r>
              <a:rPr sz="950" b="1" u="sng" dirty="0">
                <a:solidFill>
                  <a:srgbClr val="0284C7"/>
                </a:solidFill>
                <a:latin typeface="Arial"/>
                <a:hlinkClick r:id="rId8"/>
              </a:rPr>
              <a:t> Repo ↗</a:t>
            </a:r>
          </a:p>
        </p:txBody>
      </p:sp>
      <p:sp>
        <p:nvSpPr>
          <p:cNvPr id="32" name="Rounded Rectangle 31"/>
          <p:cNvSpPr/>
          <p:nvPr/>
        </p:nvSpPr>
        <p:spPr>
          <a:xfrm>
            <a:off x="5033772" y="5687568"/>
            <a:ext cx="2121408" cy="749808"/>
          </a:xfrm>
          <a:prstGeom prst="roundRect">
            <a:avLst/>
          </a:prstGeom>
          <a:solidFill>
            <a:srgbClr val="FFFFFF"/>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mage.png"/>
          <p:cNvPicPr>
            <a:picLocks noChangeAspect="1"/>
          </p:cNvPicPr>
          <p:nvPr/>
        </p:nvPicPr>
        <p:blipFill>
          <a:blip r:embed="rId9" cstate="print"/>
          <a:stretch>
            <a:fillRect/>
          </a:stretch>
        </p:blipFill>
        <p:spPr>
          <a:xfrm>
            <a:off x="5125212" y="5843016"/>
            <a:ext cx="438912" cy="438912"/>
          </a:xfrm>
          <a:prstGeom prst="rect">
            <a:avLst/>
          </a:prstGeom>
        </p:spPr>
      </p:pic>
      <p:sp>
        <p:nvSpPr>
          <p:cNvPr id="34" name="TextBox 33"/>
          <p:cNvSpPr txBox="1"/>
          <p:nvPr/>
        </p:nvSpPr>
        <p:spPr>
          <a:xfrm>
            <a:off x="5600700" y="5687568"/>
            <a:ext cx="1517904" cy="749808"/>
          </a:xfrm>
          <a:prstGeom prst="rect">
            <a:avLst/>
          </a:prstGeom>
          <a:noFill/>
        </p:spPr>
        <p:txBody>
          <a:bodyPr wrap="square" lIns="0" tIns="0" rIns="0" bIns="0" anchor="ctr">
            <a:spAutoFit/>
          </a:bodyPr>
          <a:lstStyle/>
          <a:p>
            <a:pPr algn="l"/>
            <a:r>
              <a:rPr sz="1100" b="1">
                <a:solidFill>
                  <a:srgbClr val="0F172A"/>
                </a:solidFill>
                <a:latin typeface="Arial"/>
              </a:rPr>
              <a:t>Demo Video</a:t>
            </a:r>
          </a:p>
          <a:p>
            <a:pPr algn="l">
              <a:spcBef>
                <a:spcPts val="300"/>
              </a:spcBef>
            </a:pPr>
            <a:r>
              <a:rPr sz="950" b="1" u="sng">
                <a:solidFill>
                  <a:srgbClr val="0284C7"/>
                </a:solidFill>
                <a:latin typeface="Arial"/>
                <a:hlinkClick r:id="rId10"/>
              </a:rPr>
              <a:t>1080p Pitch ↗</a:t>
            </a:r>
          </a:p>
        </p:txBody>
      </p:sp>
      <p:sp>
        <p:nvSpPr>
          <p:cNvPr id="35" name="Rounded Rectangle 34"/>
          <p:cNvSpPr/>
          <p:nvPr/>
        </p:nvSpPr>
        <p:spPr>
          <a:xfrm>
            <a:off x="7264908" y="5687568"/>
            <a:ext cx="2121408" cy="749808"/>
          </a:xfrm>
          <a:prstGeom prst="roundRect">
            <a:avLst/>
          </a:prstGeom>
          <a:solidFill>
            <a:srgbClr val="FFFFFF"/>
          </a:solidFill>
          <a:ln w="1524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image.png"/>
          <p:cNvPicPr>
            <a:picLocks noChangeAspect="1"/>
          </p:cNvPicPr>
          <p:nvPr/>
        </p:nvPicPr>
        <p:blipFill>
          <a:blip r:embed="rId11" cstate="print"/>
          <a:stretch>
            <a:fillRect/>
          </a:stretch>
        </p:blipFill>
        <p:spPr>
          <a:xfrm>
            <a:off x="7356348" y="5843016"/>
            <a:ext cx="438912" cy="438912"/>
          </a:xfrm>
          <a:prstGeom prst="rect">
            <a:avLst/>
          </a:prstGeom>
        </p:spPr>
      </p:pic>
      <p:sp>
        <p:nvSpPr>
          <p:cNvPr id="37" name="TextBox 36"/>
          <p:cNvSpPr txBox="1"/>
          <p:nvPr/>
        </p:nvSpPr>
        <p:spPr>
          <a:xfrm>
            <a:off x="7831836" y="5885500"/>
            <a:ext cx="1517904" cy="353943"/>
          </a:xfrm>
          <a:prstGeom prst="rect">
            <a:avLst/>
          </a:prstGeom>
          <a:noFill/>
        </p:spPr>
        <p:txBody>
          <a:bodyPr wrap="square" lIns="0" tIns="0" rIns="0" bIns="0" anchor="ctr">
            <a:spAutoFit/>
          </a:bodyPr>
          <a:lstStyle/>
          <a:p>
            <a:pPr algn="l"/>
            <a:r>
              <a:rPr sz="1100" b="1" dirty="0">
                <a:solidFill>
                  <a:srgbClr val="0F172A"/>
                </a:solidFill>
                <a:latin typeface="Arial"/>
              </a:rPr>
              <a:t>Technical Spec</a:t>
            </a:r>
          </a:p>
          <a:p>
            <a:pPr algn="l">
              <a:spcBef>
                <a:spcPts val="300"/>
              </a:spcBef>
            </a:pPr>
            <a:r>
              <a:rPr lang="en-IN" sz="950" b="1" u="sng" dirty="0">
                <a:solidFill>
                  <a:srgbClr val="0284C7"/>
                </a:solidFill>
                <a:latin typeface="Arial"/>
                <a:hlinkClick r:id="rId12"/>
              </a:rPr>
              <a:t>Documentation↗</a:t>
            </a:r>
            <a:endParaRPr sz="950" b="1" u="sng" dirty="0">
              <a:solidFill>
                <a:srgbClr val="0284C7"/>
              </a:solidFill>
              <a:latin typeface="Arial"/>
              <a:hlinkClick r:id="rId12"/>
            </a:endParaRPr>
          </a:p>
        </p:txBody>
      </p:sp>
      <p:sp>
        <p:nvSpPr>
          <p:cNvPr id="38" name="Rounded Rectangle 37"/>
          <p:cNvSpPr/>
          <p:nvPr/>
        </p:nvSpPr>
        <p:spPr>
          <a:xfrm>
            <a:off x="9496044" y="5687568"/>
            <a:ext cx="2121408" cy="74980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image.png"/>
          <p:cNvPicPr>
            <a:picLocks noChangeAspect="1"/>
          </p:cNvPicPr>
          <p:nvPr/>
        </p:nvPicPr>
        <p:blipFill>
          <a:blip r:embed="rId13" cstate="print"/>
          <a:stretch>
            <a:fillRect/>
          </a:stretch>
        </p:blipFill>
        <p:spPr>
          <a:xfrm>
            <a:off x="9587484" y="5843016"/>
            <a:ext cx="438912" cy="438912"/>
          </a:xfrm>
          <a:prstGeom prst="rect">
            <a:avLst/>
          </a:prstGeom>
        </p:spPr>
      </p:pic>
      <p:sp>
        <p:nvSpPr>
          <p:cNvPr id="40" name="TextBox 39"/>
          <p:cNvSpPr txBox="1"/>
          <p:nvPr/>
        </p:nvSpPr>
        <p:spPr>
          <a:xfrm>
            <a:off x="10062972" y="5687568"/>
            <a:ext cx="1517904" cy="749808"/>
          </a:xfrm>
          <a:prstGeom prst="rect">
            <a:avLst/>
          </a:prstGeom>
          <a:noFill/>
        </p:spPr>
        <p:txBody>
          <a:bodyPr wrap="square" lIns="0" tIns="0" rIns="0" bIns="0" anchor="ctr">
            <a:spAutoFit/>
          </a:bodyPr>
          <a:lstStyle/>
          <a:p>
            <a:pPr algn="l"/>
            <a:r>
              <a:rPr sz="1100" b="1">
                <a:solidFill>
                  <a:srgbClr val="0F172A"/>
                </a:solidFill>
                <a:latin typeface="Arial"/>
              </a:rPr>
              <a:t>Exec Summary</a:t>
            </a:r>
          </a:p>
          <a:p>
            <a:pPr algn="l">
              <a:spcBef>
                <a:spcPts val="300"/>
              </a:spcBef>
            </a:pPr>
            <a:r>
              <a:rPr sz="950" b="1" u="sng">
                <a:solidFill>
                  <a:srgbClr val="0284C7"/>
                </a:solidFill>
                <a:latin typeface="Arial"/>
                <a:hlinkClick r:id="rId14"/>
              </a:rPr>
              <a:t>Project Brief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743</TotalTime>
  <Words>877</Words>
  <Application>Microsoft Office PowerPoint</Application>
  <PresentationFormat>Widescreen</PresentationFormat>
  <Paragraphs>113</Paragraphs>
  <Slides>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Book Antiqua</vt:lpstr>
      <vt:lpstr>Calibri</vt:lpstr>
      <vt:lpstr>Times New Roman</vt:lpstr>
      <vt:lpstr>Wingdings</vt:lpstr>
      <vt:lpstr>Office Theme</vt:lpstr>
      <vt:lpstr>SMART INDIA HACKATHON 2026</vt:lpstr>
      <vt:lpstr>IDEA TITLE</vt:lpstr>
      <vt:lpstr>TECHNICAL APPROACH DUAL-MODEL PIPELINE WITH EXACT EXPLAINABILITY</vt:lpstr>
      <vt:lpstr>FEASIBILITY AND VIABILITY</vt:lpstr>
      <vt:lpstr>IMPACTS AND BENEFITS</vt:lpstr>
      <vt:lpstr>RESEARCH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anoop yadav</cp:lastModifiedBy>
  <cp:revision>31</cp:revision>
  <dcterms:created xsi:type="dcterms:W3CDTF">2026-09-29T17:46:06Z</dcterms:created>
  <dcterms:modified xsi:type="dcterms:W3CDTF">2026-09-30T14:24:05Z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StructuredOutput v10.0.20070.1</vt:lpwstr>
  </property>
  <property fmtid="{D5CDD505-2E9C-101B-9397-08002B2CF9AE}" pid="3" name="Created">
    <vt:filetime>2026-08-31T00:00:00Z</vt:filetime>
  </property>
  <property fmtid="{D5CDD505-2E9C-101B-9397-08002B2CF9AE}" pid="4" name="Creator">
    <vt:lpwstr>Microsoft® PowerPoint® 2021</vt:lpwstr>
  </property>
  <property fmtid="{D5CDD505-2E9C-101B-9397-08002B2CF9AE}" pid="5" name="LastSaved">
    <vt:filetime>2026-09-29T00:00:00Z</vt:filetime>
  </property>
  <property fmtid="{D5CDD505-2E9C-101B-9397-08002B2CF9AE}" pid="6" name="Producer">
    <vt:lpwstr>3-Heights(TM) PDF Security Shell 4.8.25.2 (http://www.pdf-tools.com)</vt:lpwstr>
  </property>
</Properties>
</file>